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6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82746" autoAdjust="0"/>
  </p:normalViewPr>
  <p:slideViewPr>
    <p:cSldViewPr snapToGrid="0" snapToObjects="1">
      <p:cViewPr varScale="1">
        <p:scale>
          <a:sx n="72" d="100"/>
          <a:sy n="72" d="100"/>
        </p:scale>
        <p:origin x="1109" y="26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D82545-216E-48F9-B017-D2C857F25E3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2E6D74B4-749F-4A34-828E-1F2FC50BB131}">
      <dgm:prSet phldrT="[Text]" custT="1"/>
      <dgm:spPr/>
      <dgm:t>
        <a:bodyPr/>
        <a:lstStyle/>
        <a:p>
          <a:r>
            <a:rPr lang="en-US" sz="1800" b="1" i="0" u="none" dirty="0"/>
            <a:t>Categorical Exclusion Determination (CATEX)</a:t>
          </a:r>
          <a:endParaRPr lang="en-US" sz="1800" b="1" dirty="0"/>
        </a:p>
      </dgm:t>
    </dgm:pt>
    <dgm:pt modelId="{CCB5B0C7-57B8-40D4-A808-CCEAA1B6C20F}" type="parTrans" cxnId="{77CCD919-6C06-4CD5-9286-D268AA47E7DF}">
      <dgm:prSet/>
      <dgm:spPr/>
      <dgm:t>
        <a:bodyPr/>
        <a:lstStyle/>
        <a:p>
          <a:endParaRPr lang="en-US" sz="1200" b="1"/>
        </a:p>
      </dgm:t>
    </dgm:pt>
    <dgm:pt modelId="{F7CF11F3-BF04-4D6A-B5D5-114C23401F57}" type="sibTrans" cxnId="{77CCD919-6C06-4CD5-9286-D268AA47E7DF}">
      <dgm:prSet/>
      <dgm:spPr/>
      <dgm:t>
        <a:bodyPr/>
        <a:lstStyle/>
        <a:p>
          <a:endParaRPr lang="en-US" sz="1200" b="1"/>
        </a:p>
      </dgm:t>
    </dgm:pt>
    <dgm:pt modelId="{92480341-D17E-4A6A-9CD2-1E588BE738A7}">
      <dgm:prSet phldrT="[Text]" custT="1"/>
      <dgm:spPr/>
      <dgm:t>
        <a:bodyPr/>
        <a:lstStyle/>
        <a:p>
          <a:r>
            <a:rPr lang="en-US" sz="1600" b="1" i="0" u="none" dirty="0"/>
            <a:t>Environmental Assessment (EA)</a:t>
          </a:r>
          <a:endParaRPr lang="en-US" sz="1600" b="1" dirty="0"/>
        </a:p>
      </dgm:t>
    </dgm:pt>
    <dgm:pt modelId="{229851AC-2690-4814-8CA6-39D2446D9B74}" type="parTrans" cxnId="{9322560C-3EC2-4492-95FB-91ACC5A79C0C}">
      <dgm:prSet/>
      <dgm:spPr/>
      <dgm:t>
        <a:bodyPr/>
        <a:lstStyle/>
        <a:p>
          <a:endParaRPr lang="en-US" sz="1200" b="1"/>
        </a:p>
      </dgm:t>
    </dgm:pt>
    <dgm:pt modelId="{70EC122A-B0D6-40B9-A113-ECBF40596439}" type="sibTrans" cxnId="{9322560C-3EC2-4492-95FB-91ACC5A79C0C}">
      <dgm:prSet/>
      <dgm:spPr/>
      <dgm:t>
        <a:bodyPr/>
        <a:lstStyle/>
        <a:p>
          <a:endParaRPr lang="en-US" sz="1200" b="1"/>
        </a:p>
      </dgm:t>
    </dgm:pt>
    <dgm:pt modelId="{99EBECA1-AC32-418E-AC3F-6C69E84811B5}">
      <dgm:prSet phldrT="[Text]" custT="1"/>
      <dgm:spPr/>
      <dgm:t>
        <a:bodyPr/>
        <a:lstStyle/>
        <a:p>
          <a:r>
            <a:rPr lang="en-US" sz="1200" b="1" i="0" u="none" dirty="0"/>
            <a:t>Finding of No Significant Impact (FONSI)</a:t>
          </a:r>
          <a:endParaRPr lang="en-US" sz="1200" b="1" dirty="0"/>
        </a:p>
      </dgm:t>
    </dgm:pt>
    <dgm:pt modelId="{7366386A-8719-424C-9852-DA24B8966A2A}" type="parTrans" cxnId="{6A0B071E-7C94-4492-8254-21CA45472D14}">
      <dgm:prSet/>
      <dgm:spPr/>
      <dgm:t>
        <a:bodyPr/>
        <a:lstStyle/>
        <a:p>
          <a:endParaRPr lang="en-US" sz="1200" b="1"/>
        </a:p>
      </dgm:t>
    </dgm:pt>
    <dgm:pt modelId="{E88CDCD6-B141-4718-8ED0-090FA895A28A}" type="sibTrans" cxnId="{6A0B071E-7C94-4492-8254-21CA45472D14}">
      <dgm:prSet/>
      <dgm:spPr/>
      <dgm:t>
        <a:bodyPr/>
        <a:lstStyle/>
        <a:p>
          <a:endParaRPr lang="en-US" sz="1200" b="1"/>
        </a:p>
      </dgm:t>
    </dgm:pt>
    <dgm:pt modelId="{3CBCA944-9BB0-4116-B828-ED890DA091DB}">
      <dgm:prSet phldrT="[Text]" custT="1"/>
      <dgm:spPr/>
      <dgm:t>
        <a:bodyPr/>
        <a:lstStyle/>
        <a:p>
          <a:r>
            <a:rPr lang="en-US" sz="1200" b="1" i="0" u="none" dirty="0"/>
            <a:t>Environmental Impact Statement (EIS)</a:t>
          </a:r>
          <a:endParaRPr lang="en-US" sz="1200" b="1" dirty="0"/>
        </a:p>
      </dgm:t>
    </dgm:pt>
    <dgm:pt modelId="{2C395F25-DB38-4108-8F9C-BA0DD315DA4F}" type="parTrans" cxnId="{EC6F8B1A-BE7F-4510-AA62-F4978C227EA6}">
      <dgm:prSet/>
      <dgm:spPr/>
      <dgm:t>
        <a:bodyPr/>
        <a:lstStyle/>
        <a:p>
          <a:endParaRPr lang="en-US" sz="1200"/>
        </a:p>
      </dgm:t>
    </dgm:pt>
    <dgm:pt modelId="{2BB20F33-141F-435B-B7A8-2F0336DA72F2}" type="sibTrans" cxnId="{EC6F8B1A-BE7F-4510-AA62-F4978C227EA6}">
      <dgm:prSet/>
      <dgm:spPr/>
      <dgm:t>
        <a:bodyPr/>
        <a:lstStyle/>
        <a:p>
          <a:endParaRPr lang="en-US" sz="1200"/>
        </a:p>
      </dgm:t>
    </dgm:pt>
    <dgm:pt modelId="{35C9A046-C27C-44A4-8CB7-9EFE0B5AE364}" type="pres">
      <dgm:prSet presAssocID="{41D82545-216E-48F9-B017-D2C857F25E3C}" presName="Name0" presStyleCnt="0">
        <dgm:presLayoutVars>
          <dgm:dir/>
          <dgm:animLvl val="lvl"/>
          <dgm:resizeHandles val="exact"/>
        </dgm:presLayoutVars>
      </dgm:prSet>
      <dgm:spPr/>
    </dgm:pt>
    <dgm:pt modelId="{EA028AD7-3372-44DD-9EAF-38D1BA20BC61}" type="pres">
      <dgm:prSet presAssocID="{2E6D74B4-749F-4A34-828E-1F2FC50BB131}" presName="parTxOnly" presStyleLbl="node1" presStyleIdx="0" presStyleCnt="4" custScaleX="115254" custScaleY="129309">
        <dgm:presLayoutVars>
          <dgm:chMax val="0"/>
          <dgm:chPref val="0"/>
          <dgm:bulletEnabled val="1"/>
        </dgm:presLayoutVars>
      </dgm:prSet>
      <dgm:spPr/>
    </dgm:pt>
    <dgm:pt modelId="{E1BD3149-CBD6-4210-96EE-17588700B765}" type="pres">
      <dgm:prSet presAssocID="{F7CF11F3-BF04-4D6A-B5D5-114C23401F57}" presName="parTxOnlySpace" presStyleCnt="0"/>
      <dgm:spPr/>
    </dgm:pt>
    <dgm:pt modelId="{F57D7B62-3931-496A-9D2D-04C65915D283}" type="pres">
      <dgm:prSet presAssocID="{92480341-D17E-4A6A-9CD2-1E588BE738A7}" presName="parTxOnly" presStyleLbl="node1" presStyleIdx="1" presStyleCnt="4" custScaleX="112999" custScaleY="129309">
        <dgm:presLayoutVars>
          <dgm:chMax val="0"/>
          <dgm:chPref val="0"/>
          <dgm:bulletEnabled val="1"/>
        </dgm:presLayoutVars>
      </dgm:prSet>
      <dgm:spPr/>
    </dgm:pt>
    <dgm:pt modelId="{9F54A0C8-5862-4489-96CB-9AF677E8C8A1}" type="pres">
      <dgm:prSet presAssocID="{70EC122A-B0D6-40B9-A113-ECBF40596439}" presName="parTxOnlySpace" presStyleCnt="0"/>
      <dgm:spPr/>
    </dgm:pt>
    <dgm:pt modelId="{FA027414-AAA5-4B67-BA24-3782C6AE990C}" type="pres">
      <dgm:prSet presAssocID="{99EBECA1-AC32-418E-AC3F-6C69E84811B5}" presName="parTxOnly" presStyleLbl="node1" presStyleIdx="2" presStyleCnt="4" custScaleX="68833" custScaleY="63606" custLinFactX="6824" custLinFactNeighborX="100000" custLinFactNeighborY="-35459">
        <dgm:presLayoutVars>
          <dgm:chMax val="0"/>
          <dgm:chPref val="0"/>
          <dgm:bulletEnabled val="1"/>
        </dgm:presLayoutVars>
      </dgm:prSet>
      <dgm:spPr/>
    </dgm:pt>
    <dgm:pt modelId="{82632692-9C19-4B67-8F67-50588EFCE804}" type="pres">
      <dgm:prSet presAssocID="{E88CDCD6-B141-4718-8ED0-090FA895A28A}" presName="parTxOnlySpace" presStyleCnt="0"/>
      <dgm:spPr/>
    </dgm:pt>
    <dgm:pt modelId="{69482074-CF0C-4B6C-9B30-A52120647316}" type="pres">
      <dgm:prSet presAssocID="{3CBCA944-9BB0-4116-B828-ED890DA091DB}" presName="parTxOnly" presStyleLbl="node1" presStyleIdx="3" presStyleCnt="4" custScaleX="68080" custScaleY="59435" custLinFactX="-31727" custLinFactNeighborX="-100000" custLinFactNeighborY="34937">
        <dgm:presLayoutVars>
          <dgm:chMax val="0"/>
          <dgm:chPref val="0"/>
          <dgm:bulletEnabled val="1"/>
        </dgm:presLayoutVars>
      </dgm:prSet>
      <dgm:spPr/>
    </dgm:pt>
  </dgm:ptLst>
  <dgm:cxnLst>
    <dgm:cxn modelId="{9322560C-3EC2-4492-95FB-91ACC5A79C0C}" srcId="{41D82545-216E-48F9-B017-D2C857F25E3C}" destId="{92480341-D17E-4A6A-9CD2-1E588BE738A7}" srcOrd="1" destOrd="0" parTransId="{229851AC-2690-4814-8CA6-39D2446D9B74}" sibTransId="{70EC122A-B0D6-40B9-A113-ECBF40596439}"/>
    <dgm:cxn modelId="{77CCD919-6C06-4CD5-9286-D268AA47E7DF}" srcId="{41D82545-216E-48F9-B017-D2C857F25E3C}" destId="{2E6D74B4-749F-4A34-828E-1F2FC50BB131}" srcOrd="0" destOrd="0" parTransId="{CCB5B0C7-57B8-40D4-A808-CCEAA1B6C20F}" sibTransId="{F7CF11F3-BF04-4D6A-B5D5-114C23401F57}"/>
    <dgm:cxn modelId="{EC6F8B1A-BE7F-4510-AA62-F4978C227EA6}" srcId="{41D82545-216E-48F9-B017-D2C857F25E3C}" destId="{3CBCA944-9BB0-4116-B828-ED890DA091DB}" srcOrd="3" destOrd="0" parTransId="{2C395F25-DB38-4108-8F9C-BA0DD315DA4F}" sibTransId="{2BB20F33-141F-435B-B7A8-2F0336DA72F2}"/>
    <dgm:cxn modelId="{6A0B071E-7C94-4492-8254-21CA45472D14}" srcId="{41D82545-216E-48F9-B017-D2C857F25E3C}" destId="{99EBECA1-AC32-418E-AC3F-6C69E84811B5}" srcOrd="2" destOrd="0" parTransId="{7366386A-8719-424C-9852-DA24B8966A2A}" sibTransId="{E88CDCD6-B141-4718-8ED0-090FA895A28A}"/>
    <dgm:cxn modelId="{FFDBE131-CA4D-4728-988E-0B205285D016}" type="presOf" srcId="{2E6D74B4-749F-4A34-828E-1F2FC50BB131}" destId="{EA028AD7-3372-44DD-9EAF-38D1BA20BC61}" srcOrd="0" destOrd="0" presId="urn:microsoft.com/office/officeart/2005/8/layout/chevron1"/>
    <dgm:cxn modelId="{D487125C-9744-4788-BAA2-9EB079559DBC}" type="presOf" srcId="{99EBECA1-AC32-418E-AC3F-6C69E84811B5}" destId="{FA027414-AAA5-4B67-BA24-3782C6AE990C}" srcOrd="0" destOrd="0" presId="urn:microsoft.com/office/officeart/2005/8/layout/chevron1"/>
    <dgm:cxn modelId="{A78EBCA0-A4BB-453D-8116-D6CE094BE952}" type="presOf" srcId="{41D82545-216E-48F9-B017-D2C857F25E3C}" destId="{35C9A046-C27C-44A4-8CB7-9EFE0B5AE364}" srcOrd="0" destOrd="0" presId="urn:microsoft.com/office/officeart/2005/8/layout/chevron1"/>
    <dgm:cxn modelId="{73DA6BB6-5BA3-4695-B9AC-84808906C15D}" type="presOf" srcId="{92480341-D17E-4A6A-9CD2-1E588BE738A7}" destId="{F57D7B62-3931-496A-9D2D-04C65915D283}" srcOrd="0" destOrd="0" presId="urn:microsoft.com/office/officeart/2005/8/layout/chevron1"/>
    <dgm:cxn modelId="{E99026E2-F99C-4B56-ADD8-1A8D3DF00F5B}" type="presOf" srcId="{3CBCA944-9BB0-4116-B828-ED890DA091DB}" destId="{69482074-CF0C-4B6C-9B30-A52120647316}" srcOrd="0" destOrd="0" presId="urn:microsoft.com/office/officeart/2005/8/layout/chevron1"/>
    <dgm:cxn modelId="{FE1E39DF-0DAF-4A66-88A3-C34F8F6E89A3}" type="presParOf" srcId="{35C9A046-C27C-44A4-8CB7-9EFE0B5AE364}" destId="{EA028AD7-3372-44DD-9EAF-38D1BA20BC61}" srcOrd="0" destOrd="0" presId="urn:microsoft.com/office/officeart/2005/8/layout/chevron1"/>
    <dgm:cxn modelId="{126EA4DE-A3BE-41CA-BF37-0F88605487D9}" type="presParOf" srcId="{35C9A046-C27C-44A4-8CB7-9EFE0B5AE364}" destId="{E1BD3149-CBD6-4210-96EE-17588700B765}" srcOrd="1" destOrd="0" presId="urn:microsoft.com/office/officeart/2005/8/layout/chevron1"/>
    <dgm:cxn modelId="{ACA84DA3-AAF6-4149-9E8C-BBE25BF6410A}" type="presParOf" srcId="{35C9A046-C27C-44A4-8CB7-9EFE0B5AE364}" destId="{F57D7B62-3931-496A-9D2D-04C65915D283}" srcOrd="2" destOrd="0" presId="urn:microsoft.com/office/officeart/2005/8/layout/chevron1"/>
    <dgm:cxn modelId="{D6F04040-BA6C-4E01-8B8F-39C5E22738CD}" type="presParOf" srcId="{35C9A046-C27C-44A4-8CB7-9EFE0B5AE364}" destId="{9F54A0C8-5862-4489-96CB-9AF677E8C8A1}" srcOrd="3" destOrd="0" presId="urn:microsoft.com/office/officeart/2005/8/layout/chevron1"/>
    <dgm:cxn modelId="{860E408A-93E2-4E78-97D4-5154980F02D5}" type="presParOf" srcId="{35C9A046-C27C-44A4-8CB7-9EFE0B5AE364}" destId="{FA027414-AAA5-4B67-BA24-3782C6AE990C}" srcOrd="4" destOrd="0" presId="urn:microsoft.com/office/officeart/2005/8/layout/chevron1"/>
    <dgm:cxn modelId="{5A04C0BD-1656-4E45-BA83-124D27D2CADB}" type="presParOf" srcId="{35C9A046-C27C-44A4-8CB7-9EFE0B5AE364}" destId="{82632692-9C19-4B67-8F67-50588EFCE804}" srcOrd="5" destOrd="0" presId="urn:microsoft.com/office/officeart/2005/8/layout/chevron1"/>
    <dgm:cxn modelId="{6A1FCA42-C69D-447F-9BD8-BA1ABC8063E5}" type="presParOf" srcId="{35C9A046-C27C-44A4-8CB7-9EFE0B5AE364}" destId="{69482074-CF0C-4B6C-9B30-A52120647316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4F0D8B-9221-42D3-96BE-376071632F3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8EBCA9-7053-4BBC-898E-6AF506849D85}">
      <dgm:prSet phldrT="[Text]" custT="1"/>
      <dgm:spPr/>
      <dgm:t>
        <a:bodyPr/>
        <a:lstStyle/>
        <a:p>
          <a:r>
            <a:rPr lang="en-US" sz="1600" b="1" dirty="0"/>
            <a:t>Time Commitment</a:t>
          </a:r>
        </a:p>
      </dgm:t>
    </dgm:pt>
    <dgm:pt modelId="{7E213522-3663-491A-8CC3-E1FCEC544010}" type="parTrans" cxnId="{F357C521-45BC-406C-B8E4-53A9065D4272}">
      <dgm:prSet/>
      <dgm:spPr/>
      <dgm:t>
        <a:bodyPr/>
        <a:lstStyle/>
        <a:p>
          <a:endParaRPr lang="en-US" sz="2000" b="1"/>
        </a:p>
      </dgm:t>
    </dgm:pt>
    <dgm:pt modelId="{7F33E662-072D-4991-82E1-CA97B79CE5D3}" type="sibTrans" cxnId="{F357C521-45BC-406C-B8E4-53A9065D4272}">
      <dgm:prSet/>
      <dgm:spPr/>
      <dgm:t>
        <a:bodyPr/>
        <a:lstStyle/>
        <a:p>
          <a:endParaRPr lang="en-US" sz="2000" b="1"/>
        </a:p>
      </dgm:t>
    </dgm:pt>
    <dgm:pt modelId="{FABBB8DA-2785-48A0-8396-350AE17335C3}">
      <dgm:prSet phldrT="[Text]" custT="1"/>
      <dgm:spPr/>
      <dgm:t>
        <a:bodyPr/>
        <a:lstStyle/>
        <a:p>
          <a:r>
            <a:rPr lang="en-US" sz="1600" b="1" dirty="0"/>
            <a:t>Exhausting</a:t>
          </a:r>
        </a:p>
      </dgm:t>
    </dgm:pt>
    <dgm:pt modelId="{A2023CD9-365D-4340-88A1-FE4342D58173}" type="parTrans" cxnId="{3850CFA3-DFE3-4FA1-943F-BAEEA84F5DD4}">
      <dgm:prSet/>
      <dgm:spPr/>
      <dgm:t>
        <a:bodyPr/>
        <a:lstStyle/>
        <a:p>
          <a:endParaRPr lang="en-US" sz="2000" b="1"/>
        </a:p>
      </dgm:t>
    </dgm:pt>
    <dgm:pt modelId="{9DC9A08C-0496-472F-9720-CDE29BBA9D32}" type="sibTrans" cxnId="{3850CFA3-DFE3-4FA1-943F-BAEEA84F5DD4}">
      <dgm:prSet/>
      <dgm:spPr/>
      <dgm:t>
        <a:bodyPr/>
        <a:lstStyle/>
        <a:p>
          <a:endParaRPr lang="en-US" sz="2000" b="1"/>
        </a:p>
      </dgm:t>
    </dgm:pt>
    <dgm:pt modelId="{53B2FD73-7470-4F05-B9FF-6FBA78B629B7}">
      <dgm:prSet phldrT="[Text]" custT="1"/>
      <dgm:spPr/>
      <dgm:t>
        <a:bodyPr/>
        <a:lstStyle/>
        <a:p>
          <a:r>
            <a:rPr lang="en-US" sz="1600" b="1" dirty="0"/>
            <a:t>Lack compensation</a:t>
          </a:r>
        </a:p>
      </dgm:t>
    </dgm:pt>
    <dgm:pt modelId="{575C8D23-33E4-4B22-AA70-3B52C0CA0284}" type="parTrans" cxnId="{1EFD56EF-C079-4386-8A4F-D2B42865D566}">
      <dgm:prSet/>
      <dgm:spPr/>
      <dgm:t>
        <a:bodyPr/>
        <a:lstStyle/>
        <a:p>
          <a:endParaRPr lang="en-US" sz="2000" b="1"/>
        </a:p>
      </dgm:t>
    </dgm:pt>
    <dgm:pt modelId="{D28BEC32-D508-4367-8304-CC1B9EB776F8}" type="sibTrans" cxnId="{1EFD56EF-C079-4386-8A4F-D2B42865D566}">
      <dgm:prSet/>
      <dgm:spPr/>
      <dgm:t>
        <a:bodyPr/>
        <a:lstStyle/>
        <a:p>
          <a:endParaRPr lang="en-US" sz="2000" b="1"/>
        </a:p>
      </dgm:t>
    </dgm:pt>
    <dgm:pt modelId="{A56AC4F9-BDAC-4123-AA57-CFF26F37E02A}">
      <dgm:prSet phldrT="[Text]" custT="1"/>
      <dgm:spPr/>
      <dgm:t>
        <a:bodyPr/>
        <a:lstStyle/>
        <a:p>
          <a:r>
            <a:rPr lang="en-US" sz="1600" b="1" dirty="0"/>
            <a:t>Lack of trust</a:t>
          </a:r>
        </a:p>
      </dgm:t>
    </dgm:pt>
    <dgm:pt modelId="{7527FD66-9981-454A-B27F-680BBDAFACA0}" type="parTrans" cxnId="{E873D6F2-797A-44E5-B7CE-5928A85821C6}">
      <dgm:prSet/>
      <dgm:spPr/>
      <dgm:t>
        <a:bodyPr/>
        <a:lstStyle/>
        <a:p>
          <a:endParaRPr lang="en-US" sz="2000" b="1"/>
        </a:p>
      </dgm:t>
    </dgm:pt>
    <dgm:pt modelId="{39B22362-FA35-4910-95BE-2FF01FBF4809}" type="sibTrans" cxnId="{E873D6F2-797A-44E5-B7CE-5928A85821C6}">
      <dgm:prSet/>
      <dgm:spPr/>
      <dgm:t>
        <a:bodyPr/>
        <a:lstStyle/>
        <a:p>
          <a:endParaRPr lang="en-US" sz="2000" b="1"/>
        </a:p>
      </dgm:t>
    </dgm:pt>
    <dgm:pt modelId="{C70EA18F-EEAE-4059-9A1C-06C3CBF44221}">
      <dgm:prSet phldrT="[Text]" custT="1"/>
      <dgm:spPr/>
      <dgm:t>
        <a:bodyPr/>
        <a:lstStyle/>
        <a:p>
          <a:r>
            <a:rPr lang="en-US" sz="1600" b="1" dirty="0"/>
            <a:t>Consulting too late</a:t>
          </a:r>
        </a:p>
      </dgm:t>
    </dgm:pt>
    <dgm:pt modelId="{97EE3ACA-356A-4E3B-A7E3-9A2BC32AFFD5}" type="parTrans" cxnId="{7B457532-4106-472D-8973-99CDCF4BB6DE}">
      <dgm:prSet/>
      <dgm:spPr/>
      <dgm:t>
        <a:bodyPr/>
        <a:lstStyle/>
        <a:p>
          <a:endParaRPr lang="en-US" sz="2000" b="1"/>
        </a:p>
      </dgm:t>
    </dgm:pt>
    <dgm:pt modelId="{728EF93E-A7C4-495A-B58F-E914A0E36443}" type="sibTrans" cxnId="{7B457532-4106-472D-8973-99CDCF4BB6DE}">
      <dgm:prSet/>
      <dgm:spPr/>
      <dgm:t>
        <a:bodyPr/>
        <a:lstStyle/>
        <a:p>
          <a:endParaRPr lang="en-US" sz="2000" b="1"/>
        </a:p>
      </dgm:t>
    </dgm:pt>
    <dgm:pt modelId="{E29ABDEF-8323-4580-85FA-E545C14C0EBB}">
      <dgm:prSet phldrT="[Text]" custT="1"/>
      <dgm:spPr/>
      <dgm:t>
        <a:bodyPr/>
        <a:lstStyle/>
        <a:p>
          <a:r>
            <a:rPr lang="en-US" sz="1600" b="1" dirty="0"/>
            <a:t>Inadequate resources &amp; training</a:t>
          </a:r>
        </a:p>
      </dgm:t>
    </dgm:pt>
    <dgm:pt modelId="{F224C269-AC63-450F-BFE3-0A07952D699C}" type="parTrans" cxnId="{7C1B7C83-15A3-46E2-8AA0-A76B6DC4AF78}">
      <dgm:prSet/>
      <dgm:spPr/>
      <dgm:t>
        <a:bodyPr/>
        <a:lstStyle/>
        <a:p>
          <a:endParaRPr lang="en-US" sz="2000" b="1"/>
        </a:p>
      </dgm:t>
    </dgm:pt>
    <dgm:pt modelId="{70127B16-CCD9-4E36-967F-E43B8AD3BB1E}" type="sibTrans" cxnId="{7C1B7C83-15A3-46E2-8AA0-A76B6DC4AF78}">
      <dgm:prSet/>
      <dgm:spPr/>
      <dgm:t>
        <a:bodyPr/>
        <a:lstStyle/>
        <a:p>
          <a:endParaRPr lang="en-US" sz="2000" b="1"/>
        </a:p>
      </dgm:t>
    </dgm:pt>
    <dgm:pt modelId="{F7389ED8-2DA9-408D-A59E-5A059EF4DC01}" type="pres">
      <dgm:prSet presAssocID="{904F0D8B-9221-42D3-96BE-376071632F32}" presName="diagram" presStyleCnt="0">
        <dgm:presLayoutVars>
          <dgm:dir/>
          <dgm:resizeHandles val="exact"/>
        </dgm:presLayoutVars>
      </dgm:prSet>
      <dgm:spPr/>
    </dgm:pt>
    <dgm:pt modelId="{A29CAC19-264F-4217-A102-0928F97FB03A}" type="pres">
      <dgm:prSet presAssocID="{1A8EBCA9-7053-4BBC-898E-6AF506849D85}" presName="node" presStyleLbl="node1" presStyleIdx="0" presStyleCnt="6">
        <dgm:presLayoutVars>
          <dgm:bulletEnabled val="1"/>
        </dgm:presLayoutVars>
      </dgm:prSet>
      <dgm:spPr/>
    </dgm:pt>
    <dgm:pt modelId="{DE6E614F-F2B3-49BB-A007-F1716E23C460}" type="pres">
      <dgm:prSet presAssocID="{7F33E662-072D-4991-82E1-CA97B79CE5D3}" presName="sibTrans" presStyleCnt="0"/>
      <dgm:spPr/>
    </dgm:pt>
    <dgm:pt modelId="{3AF12C00-6A09-4302-B83A-4858FC076604}" type="pres">
      <dgm:prSet presAssocID="{FABBB8DA-2785-48A0-8396-350AE17335C3}" presName="node" presStyleLbl="node1" presStyleIdx="1" presStyleCnt="6">
        <dgm:presLayoutVars>
          <dgm:bulletEnabled val="1"/>
        </dgm:presLayoutVars>
      </dgm:prSet>
      <dgm:spPr/>
    </dgm:pt>
    <dgm:pt modelId="{46F8E3F9-709D-4007-837C-1FDE1901E19A}" type="pres">
      <dgm:prSet presAssocID="{9DC9A08C-0496-472F-9720-CDE29BBA9D32}" presName="sibTrans" presStyleCnt="0"/>
      <dgm:spPr/>
    </dgm:pt>
    <dgm:pt modelId="{B2792551-E8A4-47CF-9C84-D99826F241A3}" type="pres">
      <dgm:prSet presAssocID="{53B2FD73-7470-4F05-B9FF-6FBA78B629B7}" presName="node" presStyleLbl="node1" presStyleIdx="2" presStyleCnt="6">
        <dgm:presLayoutVars>
          <dgm:bulletEnabled val="1"/>
        </dgm:presLayoutVars>
      </dgm:prSet>
      <dgm:spPr/>
    </dgm:pt>
    <dgm:pt modelId="{C51D465A-980D-4CFB-9AFA-4C325C8BE3C4}" type="pres">
      <dgm:prSet presAssocID="{D28BEC32-D508-4367-8304-CC1B9EB776F8}" presName="sibTrans" presStyleCnt="0"/>
      <dgm:spPr/>
    </dgm:pt>
    <dgm:pt modelId="{E9F8BE2E-55FF-4125-AAF9-AC85161553A5}" type="pres">
      <dgm:prSet presAssocID="{A56AC4F9-BDAC-4123-AA57-CFF26F37E02A}" presName="node" presStyleLbl="node1" presStyleIdx="3" presStyleCnt="6">
        <dgm:presLayoutVars>
          <dgm:bulletEnabled val="1"/>
        </dgm:presLayoutVars>
      </dgm:prSet>
      <dgm:spPr/>
    </dgm:pt>
    <dgm:pt modelId="{226525CA-0307-4D4C-A9B6-EA0A90273792}" type="pres">
      <dgm:prSet presAssocID="{39B22362-FA35-4910-95BE-2FF01FBF4809}" presName="sibTrans" presStyleCnt="0"/>
      <dgm:spPr/>
    </dgm:pt>
    <dgm:pt modelId="{56B937C6-14FE-49E7-86CD-B92DC702004F}" type="pres">
      <dgm:prSet presAssocID="{C70EA18F-EEAE-4059-9A1C-06C3CBF44221}" presName="node" presStyleLbl="node1" presStyleIdx="4" presStyleCnt="6">
        <dgm:presLayoutVars>
          <dgm:bulletEnabled val="1"/>
        </dgm:presLayoutVars>
      </dgm:prSet>
      <dgm:spPr/>
    </dgm:pt>
    <dgm:pt modelId="{48CF462C-AB5B-423A-92B1-CE28590E94A0}" type="pres">
      <dgm:prSet presAssocID="{728EF93E-A7C4-495A-B58F-E914A0E36443}" presName="sibTrans" presStyleCnt="0"/>
      <dgm:spPr/>
    </dgm:pt>
    <dgm:pt modelId="{5C691696-1CEE-4D68-843A-AA42ED364C50}" type="pres">
      <dgm:prSet presAssocID="{E29ABDEF-8323-4580-85FA-E545C14C0EBB}" presName="node" presStyleLbl="node1" presStyleIdx="5" presStyleCnt="6">
        <dgm:presLayoutVars>
          <dgm:bulletEnabled val="1"/>
        </dgm:presLayoutVars>
      </dgm:prSet>
      <dgm:spPr/>
    </dgm:pt>
  </dgm:ptLst>
  <dgm:cxnLst>
    <dgm:cxn modelId="{E37BB018-5C94-4F9C-968B-F720A753BBDB}" type="presOf" srcId="{E29ABDEF-8323-4580-85FA-E545C14C0EBB}" destId="{5C691696-1CEE-4D68-843A-AA42ED364C50}" srcOrd="0" destOrd="0" presId="urn:microsoft.com/office/officeart/2005/8/layout/default"/>
    <dgm:cxn modelId="{F357C521-45BC-406C-B8E4-53A9065D4272}" srcId="{904F0D8B-9221-42D3-96BE-376071632F32}" destId="{1A8EBCA9-7053-4BBC-898E-6AF506849D85}" srcOrd="0" destOrd="0" parTransId="{7E213522-3663-491A-8CC3-E1FCEC544010}" sibTransId="{7F33E662-072D-4991-82E1-CA97B79CE5D3}"/>
    <dgm:cxn modelId="{A7F57122-C749-4428-A40C-B61AC9F9EE8B}" type="presOf" srcId="{1A8EBCA9-7053-4BBC-898E-6AF506849D85}" destId="{A29CAC19-264F-4217-A102-0928F97FB03A}" srcOrd="0" destOrd="0" presId="urn:microsoft.com/office/officeart/2005/8/layout/default"/>
    <dgm:cxn modelId="{6D24C723-DAAB-4EB3-943D-850C1D4121DD}" type="presOf" srcId="{53B2FD73-7470-4F05-B9FF-6FBA78B629B7}" destId="{B2792551-E8A4-47CF-9C84-D99826F241A3}" srcOrd="0" destOrd="0" presId="urn:microsoft.com/office/officeart/2005/8/layout/default"/>
    <dgm:cxn modelId="{7B457532-4106-472D-8973-99CDCF4BB6DE}" srcId="{904F0D8B-9221-42D3-96BE-376071632F32}" destId="{C70EA18F-EEAE-4059-9A1C-06C3CBF44221}" srcOrd="4" destOrd="0" parTransId="{97EE3ACA-356A-4E3B-A7E3-9A2BC32AFFD5}" sibTransId="{728EF93E-A7C4-495A-B58F-E914A0E36443}"/>
    <dgm:cxn modelId="{F649AE55-26F5-4E5A-B51F-EA4A7B6BADA1}" type="presOf" srcId="{A56AC4F9-BDAC-4123-AA57-CFF26F37E02A}" destId="{E9F8BE2E-55FF-4125-AAF9-AC85161553A5}" srcOrd="0" destOrd="0" presId="urn:microsoft.com/office/officeart/2005/8/layout/default"/>
    <dgm:cxn modelId="{7C1B7C83-15A3-46E2-8AA0-A76B6DC4AF78}" srcId="{904F0D8B-9221-42D3-96BE-376071632F32}" destId="{E29ABDEF-8323-4580-85FA-E545C14C0EBB}" srcOrd="5" destOrd="0" parTransId="{F224C269-AC63-450F-BFE3-0A07952D699C}" sibTransId="{70127B16-CCD9-4E36-967F-E43B8AD3BB1E}"/>
    <dgm:cxn modelId="{93847796-1A57-4CA7-BC87-7B1D17282D2F}" type="presOf" srcId="{C70EA18F-EEAE-4059-9A1C-06C3CBF44221}" destId="{56B937C6-14FE-49E7-86CD-B92DC702004F}" srcOrd="0" destOrd="0" presId="urn:microsoft.com/office/officeart/2005/8/layout/default"/>
    <dgm:cxn modelId="{3850CFA3-DFE3-4FA1-943F-BAEEA84F5DD4}" srcId="{904F0D8B-9221-42D3-96BE-376071632F32}" destId="{FABBB8DA-2785-48A0-8396-350AE17335C3}" srcOrd="1" destOrd="0" parTransId="{A2023CD9-365D-4340-88A1-FE4342D58173}" sibTransId="{9DC9A08C-0496-472F-9720-CDE29BBA9D32}"/>
    <dgm:cxn modelId="{5CB4C7B1-0CB2-4456-8E9B-601735904CA7}" type="presOf" srcId="{904F0D8B-9221-42D3-96BE-376071632F32}" destId="{F7389ED8-2DA9-408D-A59E-5A059EF4DC01}" srcOrd="0" destOrd="0" presId="urn:microsoft.com/office/officeart/2005/8/layout/default"/>
    <dgm:cxn modelId="{631D38BE-883A-408B-8A5A-64A9896C41A1}" type="presOf" srcId="{FABBB8DA-2785-48A0-8396-350AE17335C3}" destId="{3AF12C00-6A09-4302-B83A-4858FC076604}" srcOrd="0" destOrd="0" presId="urn:microsoft.com/office/officeart/2005/8/layout/default"/>
    <dgm:cxn modelId="{1EFD56EF-C079-4386-8A4F-D2B42865D566}" srcId="{904F0D8B-9221-42D3-96BE-376071632F32}" destId="{53B2FD73-7470-4F05-B9FF-6FBA78B629B7}" srcOrd="2" destOrd="0" parTransId="{575C8D23-33E4-4B22-AA70-3B52C0CA0284}" sibTransId="{D28BEC32-D508-4367-8304-CC1B9EB776F8}"/>
    <dgm:cxn modelId="{E873D6F2-797A-44E5-B7CE-5928A85821C6}" srcId="{904F0D8B-9221-42D3-96BE-376071632F32}" destId="{A56AC4F9-BDAC-4123-AA57-CFF26F37E02A}" srcOrd="3" destOrd="0" parTransId="{7527FD66-9981-454A-B27F-680BBDAFACA0}" sibTransId="{39B22362-FA35-4910-95BE-2FF01FBF4809}"/>
    <dgm:cxn modelId="{FC2A449E-31D1-419B-A464-DFF4FFD3B133}" type="presParOf" srcId="{F7389ED8-2DA9-408D-A59E-5A059EF4DC01}" destId="{A29CAC19-264F-4217-A102-0928F97FB03A}" srcOrd="0" destOrd="0" presId="urn:microsoft.com/office/officeart/2005/8/layout/default"/>
    <dgm:cxn modelId="{816D45AC-6F09-4E6D-8722-C22A5244DE97}" type="presParOf" srcId="{F7389ED8-2DA9-408D-A59E-5A059EF4DC01}" destId="{DE6E614F-F2B3-49BB-A007-F1716E23C460}" srcOrd="1" destOrd="0" presId="urn:microsoft.com/office/officeart/2005/8/layout/default"/>
    <dgm:cxn modelId="{77153235-A1D9-4F52-8AB0-63CDD2280481}" type="presParOf" srcId="{F7389ED8-2DA9-408D-A59E-5A059EF4DC01}" destId="{3AF12C00-6A09-4302-B83A-4858FC076604}" srcOrd="2" destOrd="0" presId="urn:microsoft.com/office/officeart/2005/8/layout/default"/>
    <dgm:cxn modelId="{4EDC2C41-94DE-4EE9-94CC-2A4DE52AFD5B}" type="presParOf" srcId="{F7389ED8-2DA9-408D-A59E-5A059EF4DC01}" destId="{46F8E3F9-709D-4007-837C-1FDE1901E19A}" srcOrd="3" destOrd="0" presId="urn:microsoft.com/office/officeart/2005/8/layout/default"/>
    <dgm:cxn modelId="{53F3E6E0-D9F7-4803-BF44-9C55F75FA462}" type="presParOf" srcId="{F7389ED8-2DA9-408D-A59E-5A059EF4DC01}" destId="{B2792551-E8A4-47CF-9C84-D99826F241A3}" srcOrd="4" destOrd="0" presId="urn:microsoft.com/office/officeart/2005/8/layout/default"/>
    <dgm:cxn modelId="{F5C88D92-2EE5-45C5-9B71-4836B4556354}" type="presParOf" srcId="{F7389ED8-2DA9-408D-A59E-5A059EF4DC01}" destId="{C51D465A-980D-4CFB-9AFA-4C325C8BE3C4}" srcOrd="5" destOrd="0" presId="urn:microsoft.com/office/officeart/2005/8/layout/default"/>
    <dgm:cxn modelId="{72888461-2F36-4FA7-B600-4D51B9D32ECB}" type="presParOf" srcId="{F7389ED8-2DA9-408D-A59E-5A059EF4DC01}" destId="{E9F8BE2E-55FF-4125-AAF9-AC85161553A5}" srcOrd="6" destOrd="0" presId="urn:microsoft.com/office/officeart/2005/8/layout/default"/>
    <dgm:cxn modelId="{93B0EB0B-13BB-4CB7-8F05-D6AC9CC5930B}" type="presParOf" srcId="{F7389ED8-2DA9-408D-A59E-5A059EF4DC01}" destId="{226525CA-0307-4D4C-A9B6-EA0A90273792}" srcOrd="7" destOrd="0" presId="urn:microsoft.com/office/officeart/2005/8/layout/default"/>
    <dgm:cxn modelId="{BCC5E0F9-875D-45C5-B918-92A6E963269E}" type="presParOf" srcId="{F7389ED8-2DA9-408D-A59E-5A059EF4DC01}" destId="{56B937C6-14FE-49E7-86CD-B92DC702004F}" srcOrd="8" destOrd="0" presId="urn:microsoft.com/office/officeart/2005/8/layout/default"/>
    <dgm:cxn modelId="{E4EBC819-90A1-465E-9F67-F4193C8C5316}" type="presParOf" srcId="{F7389ED8-2DA9-408D-A59E-5A059EF4DC01}" destId="{48CF462C-AB5B-423A-92B1-CE28590E94A0}" srcOrd="9" destOrd="0" presId="urn:microsoft.com/office/officeart/2005/8/layout/default"/>
    <dgm:cxn modelId="{6E245857-C194-4B95-A3C1-0D5F7F5CD9A9}" type="presParOf" srcId="{F7389ED8-2DA9-408D-A59E-5A059EF4DC01}" destId="{5C691696-1CEE-4D68-843A-AA42ED364C5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028AD7-3372-44DD-9EAF-38D1BA20BC61}">
      <dsp:nvSpPr>
        <dsp:cNvPr id="0" name=""/>
        <dsp:cNvSpPr/>
      </dsp:nvSpPr>
      <dsp:spPr>
        <a:xfrm>
          <a:off x="296" y="4244"/>
          <a:ext cx="3078124" cy="13813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u="none" kern="1200" dirty="0"/>
            <a:t>Categorical Exclusion Determination (CATEX)</a:t>
          </a:r>
          <a:endParaRPr lang="en-US" sz="1800" b="1" kern="1200" dirty="0"/>
        </a:p>
      </dsp:txBody>
      <dsp:txXfrm>
        <a:off x="690995" y="4244"/>
        <a:ext cx="1696726" cy="1381398"/>
      </dsp:txXfrm>
    </dsp:sp>
    <dsp:sp modelId="{F57D7B62-3931-496A-9D2D-04C65915D283}">
      <dsp:nvSpPr>
        <dsp:cNvPr id="0" name=""/>
        <dsp:cNvSpPr/>
      </dsp:nvSpPr>
      <dsp:spPr>
        <a:xfrm>
          <a:off x="2811347" y="4244"/>
          <a:ext cx="3017899" cy="13813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u="none" kern="1200" dirty="0"/>
            <a:t>Environmental Assessment (EA)</a:t>
          </a:r>
          <a:endParaRPr lang="en-US" sz="1600" b="1" kern="1200" dirty="0"/>
        </a:p>
      </dsp:txBody>
      <dsp:txXfrm>
        <a:off x="3502046" y="4244"/>
        <a:ext cx="1636501" cy="1381398"/>
      </dsp:txXfrm>
    </dsp:sp>
    <dsp:sp modelId="{FA027414-AAA5-4B67-BA24-3782C6AE990C}">
      <dsp:nvSpPr>
        <dsp:cNvPr id="0" name=""/>
        <dsp:cNvSpPr/>
      </dsp:nvSpPr>
      <dsp:spPr>
        <a:xfrm>
          <a:off x="6011498" y="0"/>
          <a:ext cx="1838344" cy="6794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u="none" kern="1200" dirty="0"/>
            <a:t>Finding of No Significant Impact (FONSI)</a:t>
          </a:r>
          <a:endParaRPr lang="en-US" sz="1200" b="1" kern="1200" dirty="0"/>
        </a:p>
      </dsp:txBody>
      <dsp:txXfrm>
        <a:off x="6351247" y="0"/>
        <a:ext cx="1158846" cy="679498"/>
      </dsp:txXfrm>
    </dsp:sp>
    <dsp:sp modelId="{69482074-CF0C-4B6C-9B30-A52120647316}">
      <dsp:nvSpPr>
        <dsp:cNvPr id="0" name=""/>
        <dsp:cNvSpPr/>
      </dsp:nvSpPr>
      <dsp:spPr>
        <a:xfrm>
          <a:off x="6019029" y="750703"/>
          <a:ext cx="1818233" cy="6349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u="none" kern="1200" dirty="0"/>
            <a:t>Environmental Impact Statement (EIS)</a:t>
          </a:r>
          <a:endParaRPr lang="en-US" sz="1200" b="1" kern="1200" dirty="0"/>
        </a:p>
      </dsp:txBody>
      <dsp:txXfrm>
        <a:off x="6336499" y="750703"/>
        <a:ext cx="1183294" cy="6349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CAC19-264F-4217-A102-0928F97FB03A}">
      <dsp:nvSpPr>
        <dsp:cNvPr id="0" name=""/>
        <dsp:cNvSpPr/>
      </dsp:nvSpPr>
      <dsp:spPr>
        <a:xfrm>
          <a:off x="384" y="95213"/>
          <a:ext cx="1499022" cy="8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Time Commitment</a:t>
          </a:r>
        </a:p>
      </dsp:txBody>
      <dsp:txXfrm>
        <a:off x="384" y="95213"/>
        <a:ext cx="1499022" cy="899413"/>
      </dsp:txXfrm>
    </dsp:sp>
    <dsp:sp modelId="{3AF12C00-6A09-4302-B83A-4858FC076604}">
      <dsp:nvSpPr>
        <dsp:cNvPr id="0" name=""/>
        <dsp:cNvSpPr/>
      </dsp:nvSpPr>
      <dsp:spPr>
        <a:xfrm>
          <a:off x="1649309" y="95213"/>
          <a:ext cx="1499022" cy="8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Exhausting</a:t>
          </a:r>
        </a:p>
      </dsp:txBody>
      <dsp:txXfrm>
        <a:off x="1649309" y="95213"/>
        <a:ext cx="1499022" cy="899413"/>
      </dsp:txXfrm>
    </dsp:sp>
    <dsp:sp modelId="{B2792551-E8A4-47CF-9C84-D99826F241A3}">
      <dsp:nvSpPr>
        <dsp:cNvPr id="0" name=""/>
        <dsp:cNvSpPr/>
      </dsp:nvSpPr>
      <dsp:spPr>
        <a:xfrm>
          <a:off x="384" y="1144529"/>
          <a:ext cx="1499022" cy="8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Lack compensation</a:t>
          </a:r>
        </a:p>
      </dsp:txBody>
      <dsp:txXfrm>
        <a:off x="384" y="1144529"/>
        <a:ext cx="1499022" cy="899413"/>
      </dsp:txXfrm>
    </dsp:sp>
    <dsp:sp modelId="{E9F8BE2E-55FF-4125-AAF9-AC85161553A5}">
      <dsp:nvSpPr>
        <dsp:cNvPr id="0" name=""/>
        <dsp:cNvSpPr/>
      </dsp:nvSpPr>
      <dsp:spPr>
        <a:xfrm>
          <a:off x="1649309" y="1144529"/>
          <a:ext cx="1499022" cy="8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Lack of trust</a:t>
          </a:r>
        </a:p>
      </dsp:txBody>
      <dsp:txXfrm>
        <a:off x="1649309" y="1144529"/>
        <a:ext cx="1499022" cy="899413"/>
      </dsp:txXfrm>
    </dsp:sp>
    <dsp:sp modelId="{56B937C6-14FE-49E7-86CD-B92DC702004F}">
      <dsp:nvSpPr>
        <dsp:cNvPr id="0" name=""/>
        <dsp:cNvSpPr/>
      </dsp:nvSpPr>
      <dsp:spPr>
        <a:xfrm>
          <a:off x="384" y="2193845"/>
          <a:ext cx="1499022" cy="8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Consulting too late</a:t>
          </a:r>
        </a:p>
      </dsp:txBody>
      <dsp:txXfrm>
        <a:off x="384" y="2193845"/>
        <a:ext cx="1499022" cy="899413"/>
      </dsp:txXfrm>
    </dsp:sp>
    <dsp:sp modelId="{5C691696-1CEE-4D68-843A-AA42ED364C50}">
      <dsp:nvSpPr>
        <dsp:cNvPr id="0" name=""/>
        <dsp:cNvSpPr/>
      </dsp:nvSpPr>
      <dsp:spPr>
        <a:xfrm>
          <a:off x="1649309" y="2193845"/>
          <a:ext cx="1499022" cy="8994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Inadequate resources &amp; training</a:t>
          </a:r>
        </a:p>
      </dsp:txBody>
      <dsp:txXfrm>
        <a:off x="1649309" y="2193845"/>
        <a:ext cx="1499022" cy="8994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Vulnerable to environmental contamination due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togreater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consumption of wild foods (especially fish), and traditional practices</a:t>
            </a:r>
            <a:endParaRPr lang="en-US" dirty="0"/>
          </a:p>
          <a:p>
            <a:r>
              <a:rPr lang="en-US" dirty="0"/>
              <a:t>Many displaced</a:t>
            </a:r>
          </a:p>
          <a:p>
            <a:r>
              <a:rPr lang="en-US" dirty="0"/>
              <a:t>Skirmishes, crazy horse murdered in prison</a:t>
            </a:r>
          </a:p>
          <a:p>
            <a:r>
              <a:rPr lang="en-US" dirty="0"/>
              <a:t>Never accepted</a:t>
            </a:r>
          </a:p>
        </p:txBody>
      </p:sp>
    </p:spTree>
    <p:extLst>
      <p:ext uri="{BB962C8B-B14F-4D97-AF65-F5344CB8AC3E}">
        <p14:creationId xmlns:p14="http://schemas.microsoft.com/office/powerpoint/2010/main" val="3885046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Corps responsible because a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portion of the DAPL passes through federal projects managed by the USACE, specifically the Garrison Dam on Lake Sakakawea and Oahe Dam on Lake Oahe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82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1868 </a:t>
            </a:r>
            <a:r>
              <a:rPr lang="en-US" dirty="0" err="1"/>
              <a:t>superceded</a:t>
            </a:r>
            <a:r>
              <a:rPr lang="en-US" dirty="0"/>
              <a:t> 1851 lands</a:t>
            </a:r>
          </a:p>
          <a:p>
            <a:r>
              <a:rPr lang="en-US" dirty="0"/>
              <a:t>Political &gt; Legal</a:t>
            </a:r>
          </a:p>
          <a:p>
            <a:r>
              <a:rPr lang="en-US" dirty="0"/>
              <a:t>Power dynamics of colonization</a:t>
            </a:r>
          </a:p>
        </p:txBody>
      </p:sp>
    </p:spTree>
    <p:extLst>
      <p:ext uri="{BB962C8B-B14F-4D97-AF65-F5344CB8AC3E}">
        <p14:creationId xmlns:p14="http://schemas.microsoft.com/office/powerpoint/2010/main" val="1931885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CATEX = no significant impact on human environment</a:t>
            </a:r>
          </a:p>
          <a:p>
            <a:r>
              <a:rPr lang="en-US" dirty="0"/>
              <a:t>Checklist</a:t>
            </a:r>
          </a:p>
          <a:p>
            <a:r>
              <a:rPr lang="en-US" dirty="0"/>
              <a:t>Interconnected eco-culture</a:t>
            </a:r>
          </a:p>
        </p:txBody>
      </p:sp>
    </p:spTree>
    <p:extLst>
      <p:ext uri="{BB962C8B-B14F-4D97-AF65-F5344CB8AC3E}">
        <p14:creationId xmlns:p14="http://schemas.microsoft.com/office/powerpoint/2010/main" val="3199907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611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Monsanto based on 4-factor test for injunctive relief</a:t>
            </a:r>
          </a:p>
          <a:p>
            <a:r>
              <a:rPr lang="en-US" dirty="0"/>
              <a:t>STILL OPERATING while pending EIS which can take VERY LONG</a:t>
            </a:r>
          </a:p>
        </p:txBody>
      </p:sp>
    </p:spTree>
    <p:extLst>
      <p:ext uri="{BB962C8B-B14F-4D97-AF65-F5344CB8AC3E}">
        <p14:creationId xmlns:p14="http://schemas.microsoft.com/office/powerpoint/2010/main" val="4042297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t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ctr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07/978-3-030-34106-0_7" TargetMode="External"/><Relationship Id="rId13" Type="http://schemas.openxmlformats.org/officeDocument/2006/relationships/hyperlink" Target="https://doi.org/10.1017/s1466046614000490" TargetMode="External"/><Relationship Id="rId18" Type="http://schemas.openxmlformats.org/officeDocument/2006/relationships/hyperlink" Target="https://doi.org/10.1007/s40572-017-0140-5" TargetMode="External"/><Relationship Id="rId3" Type="http://schemas.openxmlformats.org/officeDocument/2006/relationships/hyperlink" Target="https://www.nytimes.com/interactive/2016/11/23/us/dakota-access-pipeline-protest-map.html" TargetMode="External"/><Relationship Id="rId21" Type="http://schemas.openxmlformats.org/officeDocument/2006/relationships/hyperlink" Target="https://legacy-assets.eenews.net/open_files/assets/2017/06/15/document_ew_03.pdf" TargetMode="External"/><Relationship Id="rId7" Type="http://schemas.openxmlformats.org/officeDocument/2006/relationships/hyperlink" Target="http://www.whitehouse.gov/briefing-room/press-briefings/2022/07/08/press-briefing-by-press-secretary-karine-jean-pierre-4/" TargetMode="External"/><Relationship Id="rId12" Type="http://schemas.openxmlformats.org/officeDocument/2006/relationships/hyperlink" Target="https://daplpipelinefacts.com/" TargetMode="External"/><Relationship Id="rId17" Type="http://schemas.openxmlformats.org/officeDocument/2006/relationships/hyperlink" Target="https://doi.org/10.1089/env.2010.0037" TargetMode="External"/><Relationship Id="rId25" Type="http://schemas.openxmlformats.org/officeDocument/2006/relationships/hyperlink" Target="https://digitalcommons.law.seattleu.edu/ailj/vol6/iss1/4" TargetMode="External"/><Relationship Id="rId2" Type="http://schemas.openxmlformats.org/officeDocument/2006/relationships/hyperlink" Target="https://www.aclu.org/issues/free-speech/rights-protesters/stand-standing-rock" TargetMode="External"/><Relationship Id="rId16" Type="http://schemas.openxmlformats.org/officeDocument/2006/relationships/hyperlink" Target="https://earthjustice.org/features/faq-standing-rock-litigation" TargetMode="External"/><Relationship Id="rId20" Type="http://schemas.openxmlformats.org/officeDocument/2006/relationships/hyperlink" Target="https://earthjustice.org/sites/default/files/press/2016/3154-66-3-Dec-of-William-Scherman-ISO-MSJ.pdf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oi.org/10.1080/00320447.2018.1554550" TargetMode="External"/><Relationship Id="rId11" Type="http://schemas.openxmlformats.org/officeDocument/2006/relationships/hyperlink" Target="https://usace.contentdm.oclc.org/digital/collection/p16021coll7/id/2427/" TargetMode="External"/><Relationship Id="rId24" Type="http://schemas.openxmlformats.org/officeDocument/2006/relationships/hyperlink" Target="https://www.bia.gov/sites/default/files/dup/assets/as-ia/pdf/idc2-060030.pdf" TargetMode="External"/><Relationship Id="rId5" Type="http://schemas.openxmlformats.org/officeDocument/2006/relationships/hyperlink" Target="https://muse.jhu.edu/article/807641" TargetMode="External"/><Relationship Id="rId15" Type="http://schemas.openxmlformats.org/officeDocument/2006/relationships/hyperlink" Target="https://www.govinfo.gov/content/pkg/FR-2000-11-09/pdf/00-29003.pdf" TargetMode="External"/><Relationship Id="rId23" Type="http://schemas.openxmlformats.org/officeDocument/2006/relationships/hyperlink" Target="https://www.epa.gov/sites/default/files/2015-02/documents/ej_guidance_nepa_ceq1297.pdf" TargetMode="External"/><Relationship Id="rId10" Type="http://schemas.openxmlformats.org/officeDocument/2006/relationships/hyperlink" Target="https://crsreports.congress.gov/product/pdf/IN/IN11606" TargetMode="External"/><Relationship Id="rId19" Type="http://schemas.openxmlformats.org/officeDocument/2006/relationships/hyperlink" Target="https://doi.org/10.18584/iipj.2017.8.2.1" TargetMode="External"/><Relationship Id="rId4" Type="http://schemas.openxmlformats.org/officeDocument/2006/relationships/hyperlink" Target="https://doi.org/10.2105/ajph.2021.306562" TargetMode="External"/><Relationship Id="rId9" Type="http://schemas.openxmlformats.org/officeDocument/2006/relationships/hyperlink" Target="https://crsreports.congress.gov/product/pdf/LSB/LSB10457" TargetMode="External"/><Relationship Id="rId14" Type="http://schemas.openxmlformats.org/officeDocument/2006/relationships/hyperlink" Target="https://www.epa.gov/nepa/national-environmental-policy-act-review-process" TargetMode="External"/><Relationship Id="rId22" Type="http://schemas.openxmlformats.org/officeDocument/2006/relationships/hyperlink" Target="https://jps.library.utoronto.ca/index.php/d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BAD37-5CD5-9108-889D-0853448AC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3092" y="219057"/>
            <a:ext cx="5385816" cy="3772498"/>
          </a:xfrm>
        </p:spPr>
        <p:txBody>
          <a:bodyPr anchor="ctr"/>
          <a:lstStyle/>
          <a:p>
            <a:r>
              <a:rPr lang="en-US" sz="3600" dirty="0"/>
              <a:t>The Standing Rock Sioux Tribe’s Litigation AGAINST the Dakota Access Pipeline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5ADEC-D692-D708-2BF9-92BFD6932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7202" y="3976844"/>
            <a:ext cx="3493008" cy="878908"/>
          </a:xfrm>
        </p:spPr>
        <p:txBody>
          <a:bodyPr anchor="ctr"/>
          <a:lstStyle/>
          <a:p>
            <a:r>
              <a:rPr lang="en-US" dirty="0"/>
              <a:t>Sylas Horowitz</a:t>
            </a:r>
          </a:p>
        </p:txBody>
      </p:sp>
    </p:spTree>
    <p:extLst>
      <p:ext uri="{BB962C8B-B14F-4D97-AF65-F5344CB8AC3E}">
        <p14:creationId xmlns:p14="http://schemas.microsoft.com/office/powerpoint/2010/main" val="1614536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81CF7-EBD3-8735-83FC-91EB59A99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365" y="3976"/>
            <a:ext cx="6941092" cy="1072233"/>
          </a:xfrm>
        </p:spPr>
        <p:txBody>
          <a:bodyPr/>
          <a:lstStyle/>
          <a:p>
            <a:r>
              <a:rPr lang="en-US" sz="2800" dirty="0"/>
              <a:t>Dakota access pipeline (</a:t>
            </a:r>
            <a:r>
              <a:rPr lang="en-US" sz="2800" dirty="0" err="1"/>
              <a:t>dapl</a:t>
            </a:r>
            <a:r>
              <a:rPr lang="en-US" sz="2800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B74FB-3F0A-74AC-7572-DEA7B98BB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6919" y="946206"/>
            <a:ext cx="3514477" cy="480259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Adobe Myungjo Std M" panose="02020600000000000000" pitchFamily="18" charset="-128"/>
                <a:cs typeface="Arial" panose="020B0604020202020204" pitchFamily="34" charset="0"/>
              </a:rPr>
              <a:t>1,172-mi, ND </a:t>
            </a:r>
            <a:r>
              <a:rPr lang="en-US" dirty="0">
                <a:latin typeface="Arial" panose="020B0604020202020204" pitchFamily="34" charset="0"/>
                <a:ea typeface="Adobe Myungjo Std M" panose="02020600000000000000" pitchFamily="18" charset="-128"/>
                <a:cs typeface="Arial" panose="020B0604020202020204" pitchFamily="34" charset="0"/>
                <a:sym typeface="Wingdings" panose="05000000000000000000" pitchFamily="2" charset="2"/>
              </a:rPr>
              <a:t> IL</a:t>
            </a:r>
            <a:endParaRPr lang="en-US" dirty="0">
              <a:latin typeface="Arial" panose="020B0604020202020204" pitchFamily="34" charset="0"/>
              <a:ea typeface="Adobe Myungjo Std M" panose="02020600000000000000" pitchFamily="18" charset="-128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Adobe Myungjo Std M" panose="02020600000000000000" pitchFamily="18" charset="-128"/>
                <a:cs typeface="Arial" panose="020B0604020202020204" pitchFamily="34" charset="0"/>
              </a:rPr>
              <a:t>$3.78b, 570,000 bpd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Adobe Myungjo Std M" panose="02020600000000000000" pitchFamily="18" charset="-128"/>
                <a:cs typeface="Arial" panose="020B0604020202020204" pitchFamily="34" charset="0"/>
              </a:rPr>
              <a:t>Violates treaty rights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Adobe Myungjo Std M" panose="02020600000000000000" pitchFamily="18" charset="-128"/>
                <a:cs typeface="Arial" panose="020B0604020202020204" pitchFamily="34" charset="0"/>
              </a:rPr>
              <a:t>Threatens sacred prayer sites and ancestral burial grounds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Adobe Myungjo Std M" panose="02020600000000000000" pitchFamily="18" charset="-128"/>
                <a:cs typeface="Arial" panose="020B0604020202020204" pitchFamily="34" charset="0"/>
              </a:rPr>
              <a:t>Passes through 22 bodies of water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Adobe Myungjo Std M" panose="02020600000000000000" pitchFamily="18" charset="-128"/>
                <a:cs typeface="Arial" panose="020B0604020202020204" pitchFamily="34" charset="0"/>
              </a:rPr>
              <a:t>Missouri River and Lake Oahe – fishing grounds and primary water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ea typeface="Adobe Myungjo Std M" panose="02020600000000000000" pitchFamily="18" charset="-128"/>
              <a:cs typeface="Arial" panose="020B0604020202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158AC8C-D700-4D98-753E-92164E804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3" y="825253"/>
            <a:ext cx="6675419" cy="560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06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8072-8813-C736-8870-EE69F663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of events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F01C8B-592E-2EAD-A962-80B30A20C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70EAB-3842-3EC1-DF08-22498033D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January 2016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03E56-548B-E66C-7809-EF3460EBA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July 2016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5E7DFC-4AD1-EC52-BFDB-351430B69F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August 2016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453E8A-CF3B-D8EB-7371-942FA24C4C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January 2017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CD347A-2AEC-C673-9C22-F48993B49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February 2017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59A3EB-16BE-FA39-A48A-16533D7A8B0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DAPL approved for construction via EA/FONSI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1BAACDF-4BBE-EE2E-F230-EF48314049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Standing Rock Sioux Tribe begins litigation against Corps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E03C20-E031-A68E-B456-B312E9F75C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Thousands of water protectors protest from over 200 tribes, militarized police and Nat Guard injure 300 &amp; face over $1,500 each in felony charges/bonds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68A57EF-802D-71CC-609B-C2EAB5F5259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Corps conduct site visit and decide to delay an easement for construction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8E8B96-2AC0-6F51-D597-A1A97127F08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5"/>
            <a:ext cx="1993392" cy="1655065"/>
          </a:xfrm>
        </p:spPr>
        <p:txBody>
          <a:bodyPr/>
          <a:lstStyle/>
          <a:p>
            <a:r>
              <a:rPr lang="en-US" dirty="0"/>
              <a:t>Trump issues presidential memorandum to accelerate construction and operation, overriding EIS</a:t>
            </a:r>
          </a:p>
        </p:txBody>
      </p:sp>
    </p:spTree>
    <p:extLst>
      <p:ext uri="{BB962C8B-B14F-4D97-AF65-F5344CB8AC3E}">
        <p14:creationId xmlns:p14="http://schemas.microsoft.com/office/powerpoint/2010/main" val="546586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D15C-3C60-71AC-8068-337B2E5D3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of events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5F5CE8-D0DE-D2D5-9112-0B7EA10E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36346-08CC-55FB-2DB9-FE67ED015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 2017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6308A-6034-386D-841F-6D728EEAB4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June 2017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80B989-EFE9-7AE5-F73D-B9A24A7FA5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February 2019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9756E81-33A0-578E-ECA3-3E21349286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March 2020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325C2B-29AE-F686-5E15-88F6142056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January 2021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A285F6-AC29-CACF-C7C0-99D6563F46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DAPL began active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E40D66-45F9-2037-D6A7-02D70E54E6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D.C. District Court finds federal permits for pipeline are illegal, remands Corps to address flaws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91B118-915A-7763-4B24-17D00A6C047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Corps find that EIS is not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9BDD65-681C-BA6D-6A49-65F3842AEA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Court finds EIS required due to NEPA violations, orders temporary halt to operations in July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ED1B354-D68B-3A8F-903A-CBAA9D3B39C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D.C. Circuit Court of Appeals affirms EIS, reverses halt to operations. DAPL is STILL operating today without a permit!</a:t>
            </a:r>
          </a:p>
        </p:txBody>
      </p:sp>
    </p:spTree>
    <p:extLst>
      <p:ext uri="{BB962C8B-B14F-4D97-AF65-F5344CB8AC3E}">
        <p14:creationId xmlns:p14="http://schemas.microsoft.com/office/powerpoint/2010/main" val="395000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BDF6-16AC-1FE4-1EA8-F6573AE9A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Influential factors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E4F31-CB8C-ED75-B9D5-5E5B78DD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AD434-350F-CF1E-4B60-6C85359E2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Treaty imaginary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1AE3522-D3EF-9E42-6AB1-06B592BFC5F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1E7454-C7FB-5BBF-7D1D-566F8E0C32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History of violations to tribal sovereignty invalidate treaty rights argument used by tribes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153E5B-4730-321C-7441-F0AD19962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Levels of legality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E934E2C-1DDA-8A00-AA01-A46963CB3EF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2A15BF-A9C8-6F01-90C9-0733BD2282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FPIC under UN international human rights law and protests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DBC06B-13B7-2529-4C63-9E583C3002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Permitting process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062F20E-6ECD-6B09-19B0-090AAFDEBF1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0133FD5-D467-9700-2265-E41492DD92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Western </a:t>
            </a:r>
            <a:r>
              <a:rPr lang="en-US" i="1" dirty="0"/>
              <a:t>scientific </a:t>
            </a:r>
            <a:r>
              <a:rPr lang="en-US" i="1" dirty="0" err="1"/>
              <a:t>materialim</a:t>
            </a:r>
            <a:r>
              <a:rPr lang="en-US" dirty="0"/>
              <a:t> worldview in NEPA, flawed consultations and data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6D6E80-1D67-FAC4-8CE9-55F0A3AF33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EXECUTIVE POWER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6B6616E-DF4D-1983-CA49-F8782961B4D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75144DB-0BE0-D54D-A0D7-592A273FACB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Changes EJ considerations in NEPA and permitting/operation decisions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9CB96D6-EF44-3C85-322D-87412D9B47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Court opinion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F198F18-D69E-B604-DBC2-BD0B520A099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FB1713A-D57E-2269-9206-11FE1F9B9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Abides by NEPA guidelines and court precedents, often do not favor tribal rights</a:t>
            </a:r>
          </a:p>
        </p:txBody>
      </p:sp>
    </p:spTree>
    <p:extLst>
      <p:ext uri="{BB962C8B-B14F-4D97-AF65-F5344CB8AC3E}">
        <p14:creationId xmlns:p14="http://schemas.microsoft.com/office/powerpoint/2010/main" val="1007858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E4402-9959-E8A7-8707-14B05A65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14" y="811739"/>
            <a:ext cx="6432605" cy="768096"/>
          </a:xfrm>
        </p:spPr>
        <p:txBody>
          <a:bodyPr/>
          <a:lstStyle/>
          <a:p>
            <a:r>
              <a:rPr lang="en-US" dirty="0"/>
              <a:t>Colonial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CDE40-2273-E5BE-F540-7B083F6AA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613" y="1867915"/>
            <a:ext cx="6432605" cy="380931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1851 Fort Laramie Treaty: 134m acres, $50,000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Gold and railroads </a:t>
            </a:r>
            <a:r>
              <a:rPr lang="en-US" dirty="0">
                <a:sym typeface="Wingdings" panose="05000000000000000000" pitchFamily="2" charset="2"/>
              </a:rPr>
              <a:t> displacement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1868 Fort Laramie Treaty: 25m acres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Gold discovered in Black Hills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ym typeface="Wingdings" panose="05000000000000000000" pitchFamily="2" charset="2"/>
              </a:rPr>
              <a:t>Agreement of 1877</a:t>
            </a:r>
            <a:r>
              <a:rPr lang="en-US" dirty="0">
                <a:sym typeface="Wingdings" panose="05000000000000000000" pitchFamily="2" charset="2"/>
              </a:rPr>
              <a:t> illegally seizes Black Hills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dirty="0">
                <a:sym typeface="Wingdings" panose="05000000000000000000" pitchFamily="2" charset="2"/>
              </a:rPr>
              <a:t>United States v. Sioux Nation of Indians </a:t>
            </a:r>
            <a:r>
              <a:rPr lang="en-US" dirty="0">
                <a:sym typeface="Wingdings" panose="05000000000000000000" pitchFamily="2" charset="2"/>
              </a:rPr>
              <a:t>(1980) offered compensation, no land back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3EBFC92-8284-3222-FE1F-0D94814F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6570" y="799579"/>
            <a:ext cx="3587049" cy="52588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781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8050-91F7-2AA4-65B4-2FC007869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l"/>
            <a:r>
              <a:rPr lang="en-US" dirty="0"/>
              <a:t>Dispossession &amp; extraction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3EF14-A1F0-DB3E-551E-D2EE87CD69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233144" cy="434340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Massacre at Wounded Knee (1990)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Congress appropriates millions of acres (1889, 1910) overriding treaty rights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Bison decline and dust bow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Flooding of Oahe Dam by Corps evicts 190 families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Now 400,000 acres on which there are 500 oil wells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F6926-0E30-B193-F1F3-830B167F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7455D64-EFBE-A1F0-DF75-1FA7A098B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224" y="457200"/>
            <a:ext cx="5993915" cy="599391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16296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F444-3117-CA35-2BF6-7410D54B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actors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8CE37-9D15-DC20-412B-16C33904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28D553-1D18-51A2-4DE0-76E7B415C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tIns="548640"/>
          <a:lstStyle/>
          <a:p>
            <a:r>
              <a:rPr lang="en-US" dirty="0"/>
              <a:t>Energy transfer partners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BDBBFFD-70D5-C702-46CF-60E90602C50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184271-D445-824A-818B-1ACEF710AB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anchor="ctr"/>
          <a:lstStyle/>
          <a:p>
            <a:r>
              <a:rPr lang="en-US" dirty="0"/>
              <a:t>Litigators fabricated existence of sacred sites</a:t>
            </a:r>
          </a:p>
          <a:p>
            <a:r>
              <a:rPr lang="en-US" dirty="0"/>
              <a:t>No violation of treaty rights</a:t>
            </a:r>
          </a:p>
          <a:p>
            <a:r>
              <a:rPr lang="en-US" dirty="0"/>
              <a:t>Racketeering claims</a:t>
            </a:r>
          </a:p>
          <a:p>
            <a:r>
              <a:rPr lang="en-US" dirty="0"/>
              <a:t>Local job creation</a:t>
            </a:r>
          </a:p>
          <a:p>
            <a:r>
              <a:rPr lang="en-US" dirty="0"/>
              <a:t>Property taxes</a:t>
            </a:r>
          </a:p>
          <a:p>
            <a:r>
              <a:rPr lang="en-US" dirty="0"/>
              <a:t>Safer than other methods</a:t>
            </a:r>
          </a:p>
          <a:p>
            <a:r>
              <a:rPr lang="en-US" dirty="0"/>
              <a:t>Energy security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F5BA94-344F-9078-C1D3-BE095DF48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tIns="548640"/>
          <a:lstStyle/>
          <a:p>
            <a:r>
              <a:rPr lang="en-US" dirty="0"/>
              <a:t>US Army Corps of engineers (corps)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F414B8C-9E3F-5A8C-E77F-3FF28A491DD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FC4CF6-E570-C454-8411-8908A622F3F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anchor="ctr"/>
          <a:lstStyle/>
          <a:p>
            <a:r>
              <a:rPr lang="en-US" dirty="0"/>
              <a:t>Federal agency responsible for independent evaluation</a:t>
            </a:r>
          </a:p>
          <a:p>
            <a:r>
              <a:rPr lang="en-US" dirty="0"/>
              <a:t>Prepares Environmental Assessment (EA) as part of National Environmental Policy Act (NEPA)</a:t>
            </a:r>
          </a:p>
          <a:p>
            <a:r>
              <a:rPr lang="en-US" dirty="0"/>
              <a:t>Follows Council on Environmental Quality (CEQ) guidance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1A923C0-AFF6-B83F-7BD3-DFC524A10C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tIns="548640"/>
          <a:lstStyle/>
          <a:p>
            <a:r>
              <a:rPr lang="en-US" dirty="0"/>
              <a:t>Standing rock Sioux tribe (</a:t>
            </a:r>
            <a:r>
              <a:rPr lang="en-US" dirty="0" err="1"/>
              <a:t>srst</a:t>
            </a:r>
            <a:r>
              <a:rPr lang="en-US" dirty="0"/>
              <a:t>)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7A589B0-8696-8C7E-9B96-25571C03FB5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250743-A5A7-81D3-2B7A-7F9A4BD3D1D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Represented by the non-profit Earthjustice</a:t>
            </a:r>
          </a:p>
          <a:p>
            <a:r>
              <a:rPr lang="en-US" dirty="0"/>
              <a:t>Points of contention:</a:t>
            </a:r>
          </a:p>
          <a:p>
            <a:pPr lvl="1">
              <a:buFont typeface="+mj-lt"/>
              <a:buAutoNum type="arabicPeriod"/>
            </a:pPr>
            <a:r>
              <a:rPr lang="en-US" sz="1500" dirty="0"/>
              <a:t>Inadequate consultation</a:t>
            </a:r>
          </a:p>
          <a:p>
            <a:pPr lvl="1">
              <a:buFont typeface="+mj-lt"/>
              <a:buAutoNum type="arabicPeriod"/>
            </a:pPr>
            <a:r>
              <a:rPr lang="en-US" sz="1500" dirty="0"/>
              <a:t>Infringe on cultural resources (i.e. fishing)</a:t>
            </a:r>
          </a:p>
          <a:p>
            <a:pPr lvl="1">
              <a:buFont typeface="+mj-lt"/>
              <a:buAutoNum type="arabicPeriod"/>
            </a:pPr>
            <a:r>
              <a:rPr lang="en-US" sz="1500" dirty="0"/>
              <a:t>Infringe on treaty rights</a:t>
            </a:r>
          </a:p>
          <a:p>
            <a:pPr lvl="1">
              <a:buFont typeface="+mj-lt"/>
              <a:buAutoNum type="arabicPeriod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28831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6D9607-09F1-7A5E-3272-1809C5641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6766560" cy="768096"/>
          </a:xfrm>
        </p:spPr>
        <p:txBody>
          <a:bodyPr/>
          <a:lstStyle/>
          <a:p>
            <a:r>
              <a:rPr lang="en-US" dirty="0"/>
              <a:t>Treaty imaginary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52A1A0-3B40-A1F7-4B22-4196E48EF438}"/>
              </a:ext>
            </a:extLst>
          </p:cNvPr>
          <p:cNvSpPr txBox="1">
            <a:spLocks/>
          </p:cNvSpPr>
          <p:nvPr/>
        </p:nvSpPr>
        <p:spPr>
          <a:xfrm>
            <a:off x="170424" y="2377440"/>
            <a:ext cx="5745345" cy="304554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Congress can abrogate treaty rights—</a:t>
            </a:r>
            <a:r>
              <a:rPr lang="en-US" i="1" dirty="0">
                <a:sym typeface="Wingdings" panose="05000000000000000000" pitchFamily="2" charset="2"/>
              </a:rPr>
              <a:t>United States v. </a:t>
            </a:r>
            <a:r>
              <a:rPr lang="en-US" i="1" dirty="0" err="1">
                <a:sym typeface="Wingdings" panose="05000000000000000000" pitchFamily="2" charset="2"/>
              </a:rPr>
              <a:t>Kagama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(1886) and </a:t>
            </a:r>
            <a:r>
              <a:rPr lang="en-US" i="1" dirty="0">
                <a:sym typeface="Wingdings" panose="05000000000000000000" pitchFamily="2" charset="2"/>
              </a:rPr>
              <a:t>Lone Wolf v. Hitchcock </a:t>
            </a:r>
            <a:r>
              <a:rPr lang="en-US" dirty="0">
                <a:sym typeface="Wingdings" panose="05000000000000000000" pitchFamily="2" charset="2"/>
              </a:rPr>
              <a:t>(1903)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i="1" dirty="0">
                <a:sym typeface="Wingdings" panose="05000000000000000000" pitchFamily="2" charset="2"/>
              </a:rPr>
              <a:t>United States v. Sioux Nation of Indians </a:t>
            </a:r>
            <a:r>
              <a:rPr lang="en-US" dirty="0">
                <a:sym typeface="Wingdings" panose="05000000000000000000" pitchFamily="2" charset="2"/>
              </a:rPr>
              <a:t>(1980)—compensation, but no treaty breach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Stakeholder &gt; government-to-government (Mitigation Acts of 1998)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718D26-5C3E-2FE6-BF7E-9886048EB3AF}"/>
              </a:ext>
            </a:extLst>
          </p:cNvPr>
          <p:cNvSpPr txBox="1">
            <a:spLocks/>
          </p:cNvSpPr>
          <p:nvPr/>
        </p:nvSpPr>
        <p:spPr>
          <a:xfrm>
            <a:off x="6276232" y="3764746"/>
            <a:ext cx="5915768" cy="19381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 dirty="0">
                <a:latin typeface="+mj-lt"/>
                <a:sym typeface="Wingdings" panose="05000000000000000000" pitchFamily="2" charset="2"/>
              </a:rPr>
              <a:t>CONTRADICTIONS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E.O. 13175 &amp; CEQ  “honor tribal treaty and any other rights”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DOI  “treaties are agreements between two sovereign nations and are, along with the Constitution and Federal laws, the supreme law of the United States”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19787A-DCC1-8AAA-E797-F111CD9F66B1}"/>
              </a:ext>
            </a:extLst>
          </p:cNvPr>
          <p:cNvSpPr txBox="1">
            <a:spLocks/>
          </p:cNvSpPr>
          <p:nvPr/>
        </p:nvSpPr>
        <p:spPr>
          <a:xfrm>
            <a:off x="823758" y="1303319"/>
            <a:ext cx="6467588" cy="1074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Lakota &amp; AIM Occupy Wounded Knee 1973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Rosebud Sioux Tribe – Keystone XL</a:t>
            </a:r>
          </a:p>
        </p:txBody>
      </p:sp>
    </p:spTree>
    <p:extLst>
      <p:ext uri="{BB962C8B-B14F-4D97-AF65-F5344CB8AC3E}">
        <p14:creationId xmlns:p14="http://schemas.microsoft.com/office/powerpoint/2010/main" val="967658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610B-796C-A1EA-9C1C-6B6DA6EA7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3542" y="457200"/>
            <a:ext cx="6894576" cy="768096"/>
          </a:xfrm>
        </p:spPr>
        <p:txBody>
          <a:bodyPr/>
          <a:lstStyle/>
          <a:p>
            <a:r>
              <a:rPr lang="en-US" dirty="0"/>
              <a:t>Levels of legality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B20AD-7478-017E-8459-98E8D5E5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5B0BD3-23DC-B9BC-39D8-DB09FCE7D2E0}"/>
              </a:ext>
            </a:extLst>
          </p:cNvPr>
          <p:cNvSpPr txBox="1">
            <a:spLocks/>
          </p:cNvSpPr>
          <p:nvPr/>
        </p:nvSpPr>
        <p:spPr>
          <a:xfrm>
            <a:off x="3993542" y="1670721"/>
            <a:ext cx="6894576" cy="46903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</a:rPr>
              <a:t>Free, Prior, and Informed Consent (FPIC) </a:t>
            </a:r>
            <a:r>
              <a:rPr lang="en-US" dirty="0">
                <a:sym typeface="Wingdings" panose="05000000000000000000" pitchFamily="2" charset="2"/>
              </a:rPr>
              <a:t>under United Nations Declaration on the Rights of Ingenious People (UNDRIP)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sym typeface="Wingdings" panose="05000000000000000000" pitchFamily="2" charset="2"/>
              </a:rPr>
              <a:t>UN Permanent Forum on </a:t>
            </a:r>
            <a:r>
              <a:rPr lang="fr-FR" dirty="0" err="1">
                <a:sym typeface="Wingdings" panose="05000000000000000000" pitchFamily="2" charset="2"/>
              </a:rPr>
              <a:t>Indigenous</a:t>
            </a:r>
            <a:r>
              <a:rPr lang="fr-FR" dirty="0">
                <a:sym typeface="Wingdings" panose="05000000000000000000" pitchFamily="2" charset="2"/>
              </a:rPr>
              <a:t> Issues </a:t>
            </a:r>
            <a:r>
              <a:rPr lang="fr-FR" dirty="0" err="1">
                <a:sym typeface="Wingdings" panose="05000000000000000000" pitchFamily="2" charset="2"/>
              </a:rPr>
              <a:t>responds</a:t>
            </a:r>
            <a:r>
              <a:rPr lang="fr-FR" dirty="0">
                <a:sym typeface="Wingdings" panose="05000000000000000000" pitchFamily="2" charset="2"/>
              </a:rPr>
              <a:t> to violent </a:t>
            </a:r>
            <a:r>
              <a:rPr lang="fr-FR" dirty="0" err="1">
                <a:sym typeface="Wingdings" panose="05000000000000000000" pitchFamily="2" charset="2"/>
              </a:rPr>
              <a:t>protests</a:t>
            </a:r>
            <a:r>
              <a:rPr lang="fr-FR" dirty="0">
                <a:sym typeface="Wingdings" panose="05000000000000000000" pitchFamily="2" charset="2"/>
              </a:rPr>
              <a:t> in 2016</a:t>
            </a:r>
          </a:p>
          <a:p>
            <a:pPr marL="800100" lvl="1" indent="-342900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accent6"/>
                </a:solidFill>
                <a:sym typeface="Wingdings" panose="05000000000000000000" pitchFamily="2" charset="2"/>
              </a:rPr>
              <a:t>Calling on Biden to </a:t>
            </a:r>
            <a:r>
              <a:rPr lang="fr-FR" sz="2400" dirty="0" err="1">
                <a:solidFill>
                  <a:schemeClr val="accent6"/>
                </a:solidFill>
                <a:sym typeface="Wingdings" panose="05000000000000000000" pitchFamily="2" charset="2"/>
              </a:rPr>
              <a:t>shut</a:t>
            </a:r>
            <a:r>
              <a:rPr lang="fr-FR" sz="2400" dirty="0">
                <a:solidFill>
                  <a:schemeClr val="accent6"/>
                </a:solidFill>
                <a:sym typeface="Wingdings" panose="05000000000000000000" pitchFamily="2" charset="2"/>
              </a:rPr>
              <a:t> down (TBD)</a:t>
            </a:r>
          </a:p>
          <a:p>
            <a:pPr marL="800100" lvl="1" indent="-34290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fr-FR" sz="2400" dirty="0" err="1">
                <a:solidFill>
                  <a:schemeClr val="accent6"/>
                </a:solidFill>
                <a:sym typeface="Wingdings" panose="05000000000000000000" pitchFamily="2" charset="2"/>
              </a:rPr>
              <a:t>Agencies</a:t>
            </a:r>
            <a:r>
              <a:rPr lang="fr-FR" sz="2400" dirty="0">
                <a:solidFill>
                  <a:schemeClr val="accent6"/>
                </a:solidFill>
                <a:sym typeface="Wingdings" panose="05000000000000000000" pitchFamily="2" charset="2"/>
              </a:rPr>
              <a:t> to </a:t>
            </a:r>
            <a:r>
              <a:rPr lang="fr-FR" sz="2400" dirty="0" err="1">
                <a:solidFill>
                  <a:schemeClr val="accent6"/>
                </a:solidFill>
                <a:sym typeface="Wingdings" panose="05000000000000000000" pitchFamily="2" charset="2"/>
              </a:rPr>
              <a:t>reform</a:t>
            </a:r>
            <a:r>
              <a:rPr lang="fr-FR" sz="2400" dirty="0">
                <a:solidFill>
                  <a:schemeClr val="accent6"/>
                </a:solidFill>
                <a:sym typeface="Wingdings" panose="05000000000000000000" pitchFamily="2" charset="2"/>
              </a:rPr>
              <a:t> (TBD)</a:t>
            </a:r>
          </a:p>
          <a:p>
            <a:pPr marL="800100" lvl="1" indent="-34290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fr-FR" sz="2400" dirty="0" err="1">
                <a:solidFill>
                  <a:schemeClr val="accent6"/>
                </a:solidFill>
                <a:sym typeface="Wingdings" panose="05000000000000000000" pitchFamily="2" charset="2"/>
              </a:rPr>
              <a:t>Codify</a:t>
            </a:r>
            <a:r>
              <a:rPr lang="fr-FR" sz="2400" dirty="0">
                <a:solidFill>
                  <a:schemeClr val="accent6"/>
                </a:solidFill>
                <a:sym typeface="Wingdings" panose="05000000000000000000" pitchFamily="2" charset="2"/>
              </a:rPr>
              <a:t> FPIC H.R. 2689, 2532, S.4331, none </a:t>
            </a:r>
            <a:r>
              <a:rPr lang="fr-FR" sz="2400" dirty="0" err="1">
                <a:solidFill>
                  <a:schemeClr val="accent6"/>
                </a:solidFill>
                <a:sym typeface="Wingdings" panose="05000000000000000000" pitchFamily="2" charset="2"/>
              </a:rPr>
              <a:t>passed</a:t>
            </a:r>
            <a:endParaRPr lang="fr-FR" sz="2400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accent6"/>
                </a:solidFill>
                <a:sym typeface="Wingdings" panose="05000000000000000000" pitchFamily="2" charset="2"/>
              </a:rPr>
              <a:t>In court, « </a:t>
            </a:r>
            <a:r>
              <a:rPr lang="fr-FR" sz="2400" dirty="0" err="1">
                <a:solidFill>
                  <a:schemeClr val="accent6"/>
                </a:solidFill>
                <a:sym typeface="Wingdings" panose="05000000000000000000" pitchFamily="2" charset="2"/>
              </a:rPr>
              <a:t>highly</a:t>
            </a:r>
            <a:r>
              <a:rPr lang="fr-FR" sz="2400" dirty="0">
                <a:solidFill>
                  <a:schemeClr val="accent6"/>
                </a:solidFill>
                <a:sym typeface="Wingdings" panose="05000000000000000000" pitchFamily="2" charset="2"/>
              </a:rPr>
              <a:t> </a:t>
            </a:r>
            <a:r>
              <a:rPr lang="fr-FR" sz="2400" dirty="0" err="1">
                <a:solidFill>
                  <a:schemeClr val="accent6"/>
                </a:solidFill>
                <a:sym typeface="Wingdings" panose="05000000000000000000" pitchFamily="2" charset="2"/>
              </a:rPr>
              <a:t>controversial</a:t>
            </a:r>
            <a:r>
              <a:rPr lang="fr-FR" sz="2400" dirty="0">
                <a:solidFill>
                  <a:schemeClr val="accent6"/>
                </a:solidFill>
                <a:sym typeface="Wingdings" panose="05000000000000000000" pitchFamily="2" charset="2"/>
              </a:rPr>
              <a:t> » for </a:t>
            </a:r>
            <a:r>
              <a:rPr lang="fr-FR" sz="2400" i="1" dirty="0" err="1">
                <a:solidFill>
                  <a:schemeClr val="accent6"/>
                </a:solidFill>
                <a:sym typeface="Wingdings" panose="05000000000000000000" pitchFamily="2" charset="2"/>
              </a:rPr>
              <a:t>other</a:t>
            </a:r>
            <a:r>
              <a:rPr lang="fr-FR" sz="2400" dirty="0">
                <a:solidFill>
                  <a:schemeClr val="accent6"/>
                </a:solidFill>
                <a:sym typeface="Wingdings" panose="05000000000000000000" pitchFamily="2" charset="2"/>
              </a:rPr>
              <a:t> </a:t>
            </a:r>
            <a:r>
              <a:rPr lang="fr-FR" sz="2400" dirty="0" err="1">
                <a:solidFill>
                  <a:schemeClr val="accent6"/>
                </a:solidFill>
                <a:sym typeface="Wingdings" panose="05000000000000000000" pitchFamily="2" charset="2"/>
              </a:rPr>
              <a:t>reasons</a:t>
            </a:r>
            <a:endParaRPr lang="fr-FR" sz="2400" dirty="0">
              <a:solidFill>
                <a:schemeClr val="accent6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7212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F5CB5-1F40-4153-A1A8-03467B585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457200"/>
            <a:ext cx="8951976" cy="768096"/>
          </a:xfrm>
        </p:spPr>
        <p:txBody>
          <a:bodyPr/>
          <a:lstStyle/>
          <a:p>
            <a:r>
              <a:rPr lang="en-US" dirty="0"/>
              <a:t>Permitting process &amp; EJ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CCE4C20-6133-F938-981D-27BAF4B540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456943"/>
              </p:ext>
            </p:extLst>
          </p:nvPr>
        </p:nvGraphicFramePr>
        <p:xfrm>
          <a:off x="2614548" y="5285232"/>
          <a:ext cx="8951976" cy="1389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73310-FC7B-E464-D627-E295C3B0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9F697E3-5407-5FC9-FDD3-D889C54B2DCC}"/>
              </a:ext>
            </a:extLst>
          </p:cNvPr>
          <p:cNvSpPr txBox="1">
            <a:spLocks/>
          </p:cNvSpPr>
          <p:nvPr/>
        </p:nvSpPr>
        <p:spPr>
          <a:xfrm>
            <a:off x="1189118" y="1655599"/>
            <a:ext cx="6976872" cy="30482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NEPA &amp; E.O. 12898  “hard look” at EJ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FONSI finds no disproportionate harm to minority/low-income community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Court rules ‘cultural, social, economic factors amplify impact on tribes’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i="1" dirty="0">
                <a:sym typeface="Wingdings" panose="05000000000000000000" pitchFamily="2" charset="2"/>
              </a:rPr>
              <a:t>Scientific materialism</a:t>
            </a:r>
            <a:r>
              <a:rPr lang="en-US" dirty="0">
                <a:sym typeface="Wingdings" panose="05000000000000000000" pitchFamily="2" charset="2"/>
              </a:rPr>
              <a:t>: non-Native scientists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“Culture is not a resource that can be managed”</a:t>
            </a:r>
            <a:endParaRPr lang="en-US" i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9126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6A97E-8B75-11A6-4819-BF8CED6FC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9584" y="420624"/>
            <a:ext cx="8165592" cy="1362456"/>
          </a:xfrm>
        </p:spPr>
        <p:txBody>
          <a:bodyPr/>
          <a:lstStyle/>
          <a:p>
            <a:r>
              <a:rPr lang="en-US" dirty="0"/>
              <a:t>Tribal consultation and data limitations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17B4-E241-83C6-236B-74FAE013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96B54C1-A9C9-25BA-AAE3-8A664AF5E076}"/>
              </a:ext>
            </a:extLst>
          </p:cNvPr>
          <p:cNvSpPr txBox="1">
            <a:spLocks/>
          </p:cNvSpPr>
          <p:nvPr/>
        </p:nvSpPr>
        <p:spPr>
          <a:xfrm>
            <a:off x="3828950" y="2087370"/>
            <a:ext cx="7116418" cy="43134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Corps dismiss tribal concerns in initial 2016 EA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Dakota Access, LLC responds “impossible request to accommodate”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Procedural, already decided upon, about adapting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</a:rPr>
              <a:t>Data Sovereignty</a:t>
            </a:r>
            <a:r>
              <a:rPr lang="en-US" dirty="0">
                <a:sym typeface="Wingdings" panose="05000000000000000000" pitchFamily="2" charset="2"/>
              </a:rPr>
              <a:t> issues  inconsistent, mistrust</a:t>
            </a:r>
            <a:endParaRPr lang="en-US" b="1" dirty="0">
              <a:sym typeface="Wingdings" panose="05000000000000000000" pitchFamily="2" charset="2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5-20% NA unaccounted for in census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Health, pollution, impacts due to climate change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Simple demographic data ≠ cumulative impacts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Interconnected eco-cultures, preexisting generational stressors can not be reduced to statistics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B88CD18-4FE6-7349-82D3-821E6BE0C4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2069601"/>
              </p:ext>
            </p:extLst>
          </p:nvPr>
        </p:nvGraphicFramePr>
        <p:xfrm>
          <a:off x="143123" y="127221"/>
          <a:ext cx="3148717" cy="3188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4199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56916-3C25-A4F3-8F73-1D9AE32E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power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499ED-E76B-37BB-AA03-344BCCAF8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6A4DBD-17BB-E28F-E0B6-F1C9BCB86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tIns="457200"/>
          <a:lstStyle/>
          <a:p>
            <a:r>
              <a:rPr lang="en-US" sz="2400" dirty="0" err="1"/>
              <a:t>e.o</a:t>
            </a:r>
            <a:r>
              <a:rPr lang="en-US" sz="2400" dirty="0"/>
              <a:t>. 12898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7EDA0E-D5E9-8012-BA24-36545D84AF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Clinton (1994) EJ for minority &amp; low-income, “differential patterns of subsistence”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C3D4EA-D1AF-6550-A2C2-7C25ACFF4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tIns="457200"/>
          <a:lstStyle/>
          <a:p>
            <a:r>
              <a:rPr lang="en-US" sz="2400" dirty="0" err="1"/>
              <a:t>e.o</a:t>
            </a:r>
            <a:r>
              <a:rPr lang="en-US" sz="2400" dirty="0"/>
              <a:t>. 13175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F0EE15B-1814-D91B-E063-529B3F8915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Clinton (2000) regular, meaningful, robust consultations and respect sovereignty &amp; treaty rights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F740B4-833B-6B33-A625-A5BE50D4EB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tIns="457200"/>
          <a:lstStyle/>
          <a:p>
            <a:r>
              <a:rPr lang="en-US" sz="2400" dirty="0"/>
              <a:t>2021 p.m.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256D52A-E12F-9221-F8E4-7758E54A7D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Biden reaffirms 2009 P.M. agencies submit implementation plan for E.O. 13175 to OMB to help enforce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82EAB7-66AC-74CE-72F0-017F985060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tIns="457200"/>
          <a:lstStyle/>
          <a:p>
            <a:r>
              <a:rPr lang="en-US" sz="2400" dirty="0"/>
              <a:t>2017 p.m.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F5A6D0-A226-5CD1-A6E7-BF8AC17619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Trump advance permitting, allow construction and operation, override EIS at the time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517A019-D039-5DA6-7C85-1C8279EE05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tIns="457200"/>
          <a:lstStyle/>
          <a:p>
            <a:r>
              <a:rPr lang="en-US" sz="2400" dirty="0" err="1"/>
              <a:t>TBd</a:t>
            </a:r>
            <a:r>
              <a:rPr lang="en-US" sz="2400" dirty="0"/>
              <a:t>…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F5C23C4-6F28-03A6-775C-350C9D4D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CEQ currently reviving 2020 removal of indirect &amp; cumulative impact mandates. &amp; Biden can shut it down!</a:t>
            </a:r>
          </a:p>
        </p:txBody>
      </p:sp>
    </p:spTree>
    <p:extLst>
      <p:ext uri="{BB962C8B-B14F-4D97-AF65-F5344CB8AC3E}">
        <p14:creationId xmlns:p14="http://schemas.microsoft.com/office/powerpoint/2010/main" val="3425358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5B869-E0DF-2947-174B-796A66C8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C86936D-DF9F-26F0-8569-15FD27D94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457200"/>
            <a:ext cx="8165592" cy="987552"/>
          </a:xfrm>
        </p:spPr>
        <p:txBody>
          <a:bodyPr/>
          <a:lstStyle/>
          <a:p>
            <a:r>
              <a:rPr lang="en-US" sz="4400" dirty="0">
                <a:latin typeface="+mj-lt"/>
              </a:rPr>
              <a:t>Court opinion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48DAD72-9F8C-FFF3-8016-305F83B440CC}"/>
              </a:ext>
            </a:extLst>
          </p:cNvPr>
          <p:cNvSpPr txBox="1">
            <a:spLocks/>
          </p:cNvSpPr>
          <p:nvPr/>
        </p:nvSpPr>
        <p:spPr>
          <a:xfrm>
            <a:off x="3353462" y="1354810"/>
            <a:ext cx="7116418" cy="53401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March 2020: “highly controversial” to trigger EIS due to opposition from </a:t>
            </a:r>
            <a:r>
              <a:rPr lang="en-US" b="1" i="1" dirty="0">
                <a:sym typeface="Wingdings" panose="05000000000000000000" pitchFamily="2" charset="2"/>
              </a:rPr>
              <a:t>agencies and experts</a:t>
            </a:r>
            <a:r>
              <a:rPr lang="en-US" dirty="0">
                <a:sym typeface="Wingdings" panose="05000000000000000000" pitchFamily="2" charset="2"/>
              </a:rPr>
              <a:t>, not tribes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  <a:sym typeface="Wingdings" panose="05000000000000000000" pitchFamily="2" charset="2"/>
              </a:rPr>
              <a:t>Leak-detection system with 80% fail rate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  <a:sym typeface="Wingdings" panose="05000000000000000000" pitchFamily="2" charset="2"/>
              </a:rPr>
              <a:t>Poor safety record of DAPL operator Sunoco/ETP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  <a:sym typeface="Wingdings" panose="05000000000000000000" pitchFamily="2" charset="2"/>
              </a:rPr>
              <a:t>Ice interfering with oil recovery in the event of a winter spill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r>
              <a:rPr lang="en-US" dirty="0">
                <a:solidFill>
                  <a:schemeClr val="accent6"/>
                </a:solidFill>
                <a:sym typeface="Wingdings" panose="05000000000000000000" pitchFamily="2" charset="2"/>
              </a:rPr>
              <a:t>Mainly, underestimated Worst Case Discharge (WCD) impacts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Court dismissed non-NEPA-based claims by tribes to address hunting/fishing and EJ effects</a:t>
            </a:r>
          </a:p>
          <a:p>
            <a:pPr marL="342900" indent="-342900" algn="l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/>
                </a:solidFill>
                <a:sym typeface="Wingdings" panose="05000000000000000000" pitchFamily="2" charset="2"/>
              </a:rPr>
              <a:t>Ruled operations should halt in March 2020, D.C. Circuit Court of Appeals reversed injunction based on </a:t>
            </a:r>
            <a:r>
              <a:rPr lang="en-US" sz="2400" i="1" dirty="0">
                <a:solidFill>
                  <a:schemeClr val="accent6"/>
                </a:solidFill>
                <a:sym typeface="Wingdings" panose="05000000000000000000" pitchFamily="2" charset="2"/>
              </a:rPr>
              <a:t>Monsanto Co. v. </a:t>
            </a:r>
            <a:r>
              <a:rPr lang="en-US" sz="2400" i="1" dirty="0" err="1">
                <a:solidFill>
                  <a:schemeClr val="accent6"/>
                </a:solidFill>
                <a:sym typeface="Wingdings" panose="05000000000000000000" pitchFamily="2" charset="2"/>
              </a:rPr>
              <a:t>Geertson</a:t>
            </a:r>
            <a:r>
              <a:rPr lang="en-US" sz="2400" i="1" dirty="0">
                <a:solidFill>
                  <a:schemeClr val="accent6"/>
                </a:solidFill>
                <a:sym typeface="Wingdings" panose="05000000000000000000" pitchFamily="2" charset="2"/>
              </a:rPr>
              <a:t> Seed Farms </a:t>
            </a:r>
            <a:r>
              <a:rPr lang="en-US" sz="2400" dirty="0">
                <a:solidFill>
                  <a:schemeClr val="accent6"/>
                </a:solidFill>
                <a:sym typeface="Wingdings" panose="05000000000000000000" pitchFamily="2" charset="2"/>
              </a:rPr>
              <a:t>(2010)</a:t>
            </a:r>
          </a:p>
          <a:p>
            <a:pPr marL="914400" lvl="1" indent="-457200">
              <a:spcBef>
                <a:spcPts val="400"/>
              </a:spcBef>
              <a:buFont typeface="+mj-lt"/>
              <a:buAutoNum type="arabicPeriod"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0552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B330A-E6AC-E8F0-D3D4-08D38C1EE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528" y="1124712"/>
            <a:ext cx="5175504" cy="667512"/>
          </a:xfrm>
        </p:spPr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BD733A-5EF8-0E41-87E5-8CA153C8EF6F}"/>
              </a:ext>
            </a:extLst>
          </p:cNvPr>
          <p:cNvSpPr txBox="1">
            <a:spLocks/>
          </p:cNvSpPr>
          <p:nvPr/>
        </p:nvSpPr>
        <p:spPr>
          <a:xfrm>
            <a:off x="795528" y="1921739"/>
            <a:ext cx="6511721" cy="43438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Tribal sovereignty shaped by history of </a:t>
            </a:r>
            <a:r>
              <a:rPr lang="en-US" b="1" dirty="0">
                <a:sym typeface="Wingdings" panose="05000000000000000000" pitchFamily="2" charset="2"/>
              </a:rPr>
              <a:t>treaty rights violations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extractivism</a:t>
            </a:r>
            <a:r>
              <a:rPr lang="en-US" dirty="0">
                <a:sym typeface="Wingdings" panose="05000000000000000000" pitchFamily="2" charset="2"/>
              </a:rPr>
              <a:t>, and land dispossession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</a:rPr>
              <a:t>International law </a:t>
            </a:r>
            <a:r>
              <a:rPr lang="en-US" dirty="0">
                <a:sym typeface="Wingdings" panose="05000000000000000000" pitchFamily="2" charset="2"/>
              </a:rPr>
              <a:t>and </a:t>
            </a:r>
            <a:r>
              <a:rPr lang="en-US" b="1" dirty="0">
                <a:sym typeface="Wingdings" panose="05000000000000000000" pitchFamily="2" charset="2"/>
              </a:rPr>
              <a:t>extralegal</a:t>
            </a:r>
            <a:r>
              <a:rPr lang="en-US" dirty="0">
                <a:sym typeface="Wingdings" panose="05000000000000000000" pitchFamily="2" charset="2"/>
              </a:rPr>
              <a:t> measures may influence legislative and executive action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</a:rPr>
              <a:t>NEPA</a:t>
            </a:r>
            <a:r>
              <a:rPr lang="en-US" dirty="0">
                <a:sym typeface="Wingdings" panose="05000000000000000000" pitchFamily="2" charset="2"/>
              </a:rPr>
              <a:t> &amp; NHPA reviews fail to account for eco-cultural interconnectedness and vulnerabilities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Flawed tribal consultations and data limitations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</a:rPr>
              <a:t>Executive power </a:t>
            </a:r>
            <a:r>
              <a:rPr lang="en-US" dirty="0">
                <a:sym typeface="Wingdings" panose="05000000000000000000" pitchFamily="2" charset="2"/>
              </a:rPr>
              <a:t>influenced EJ approach and permitting decisions, fickle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>
                <a:sym typeface="Wingdings" panose="05000000000000000000" pitchFamily="2" charset="2"/>
              </a:rPr>
              <a:t>Courts</a:t>
            </a:r>
            <a:r>
              <a:rPr lang="en-US" dirty="0">
                <a:sym typeface="Wingdings" panose="05000000000000000000" pitchFamily="2" charset="2"/>
              </a:rPr>
              <a:t> follow NEPA guidelines</a:t>
            </a:r>
          </a:p>
        </p:txBody>
      </p:sp>
    </p:spTree>
    <p:extLst>
      <p:ext uri="{BB962C8B-B14F-4D97-AF65-F5344CB8AC3E}">
        <p14:creationId xmlns:p14="http://schemas.microsoft.com/office/powerpoint/2010/main" val="2394708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666BD-87A3-2D6E-769C-444E63A16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960120"/>
            <a:ext cx="10671048" cy="768096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5E534-5770-FCDE-ADD0-E94DBA472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496" y="1920240"/>
            <a:ext cx="5120640" cy="4434840"/>
          </a:xfrm>
        </p:spPr>
        <p:txBody>
          <a:bodyPr/>
          <a:lstStyle/>
          <a:p>
            <a:pPr indent="-457200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American Civil Liberties Union. (n.d.). </a:t>
            </a:r>
            <a:r>
              <a:rPr lang="en-US" sz="10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Stand with standing rock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aclu.org. Retrieved May 10, 2022, from </a:t>
            </a:r>
            <a:r>
              <a:rPr lang="en-US" sz="1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"/>
              </a:rPr>
              <a:t>https://www.aclu.org/issues/free-speech/rights-protesters/stand-standing-rock</a:t>
            </a:r>
            <a:endParaRPr lang="en-US" sz="1000" b="0" dirty="0">
              <a:effectLst/>
            </a:endParaRPr>
          </a:p>
          <a:p>
            <a:pPr indent="-457200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Aisch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G., &amp; Lai, K. K. (2016, November 23). </a:t>
            </a:r>
            <a:r>
              <a:rPr lang="en-US" sz="10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conflicts along 1,172 miles of the Dakota Access Pipeline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The New York Times. Retrieved October 11, 2022, from </a:t>
            </a:r>
            <a:r>
              <a:rPr lang="en-US" sz="1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3"/>
              </a:rPr>
              <a:t>https://www.nytimes.com/interactive/2016/11/23/us/dakota-access-pipeline-protest-map.html</a:t>
            </a:r>
            <a:endParaRPr lang="en-US" sz="1000" b="0" dirty="0">
              <a:effectLst/>
            </a:endParaRPr>
          </a:p>
          <a:p>
            <a:pPr indent="-457200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Atencio, M., James-</a:t>
            </a: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Tohe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H., Sage, S., Tsosie, D. J., Beasley, A., Grant, S., &amp; Seamster, T. (2021). Federal statutes and Environmental Justice in the Navajo Nation: The case of fracking in the Greater Chaco Region. </a:t>
            </a:r>
            <a:r>
              <a:rPr lang="en-US" sz="10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American Journal of Public Health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112(1), 116–123. </a:t>
            </a:r>
            <a:r>
              <a:rPr lang="en-US" sz="1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4"/>
              </a:rPr>
              <a:t>https://doi.org/10.2105/ajph.2021.306562</a:t>
            </a:r>
            <a:endParaRPr lang="en-US" sz="1000" b="0" dirty="0">
              <a:effectLst/>
            </a:endParaRPr>
          </a:p>
          <a:p>
            <a:pPr indent="-457200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Biolsi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T. (2021). The Treaty Imaginary and Tribal Sovereignty in South Dakota.</a:t>
            </a:r>
            <a:r>
              <a:rPr lang="en-US" sz="10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The American Indian Quarterly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45(3), 209-249. </a:t>
            </a:r>
            <a:r>
              <a:rPr lang="en-US" sz="1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5"/>
              </a:rPr>
              <a:t>doi:10.1353/aiq.2021.0019.</a:t>
            </a:r>
            <a:endParaRPr lang="en-US" sz="1000" b="0" dirty="0">
              <a:effectLst/>
            </a:endParaRPr>
          </a:p>
          <a:p>
            <a:pPr indent="-457200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Braun, Sebastian Felix (2020) Culture, resource, management, and anthropology: Pipelines and the </a:t>
            </a:r>
            <a:r>
              <a:rPr lang="en-US" sz="10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wakan 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at the Standing Rock Sioux Reservation, </a:t>
            </a:r>
            <a:r>
              <a:rPr lang="en-US" sz="10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Plains Anthropologist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65:253, 7-24, </a:t>
            </a:r>
            <a:r>
              <a:rPr lang="en-US" sz="1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6"/>
              </a:rPr>
              <a:t>https://doi.org/10.1080/00320447.2018.1554550</a:t>
            </a:r>
            <a:endParaRPr lang="en-US" sz="1000" b="0" dirty="0">
              <a:effectLst/>
            </a:endParaRPr>
          </a:p>
          <a:p>
            <a:pPr indent="-457200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444444"/>
                </a:solidFill>
                <a:effectLst/>
                <a:latin typeface="Times New Roman" panose="02020603050405020304" pitchFamily="18" charset="0"/>
              </a:rPr>
              <a:t>“CEQ Restores Three Key Community Safeguards during Federal Environmental Reviews.” </a:t>
            </a:r>
            <a:r>
              <a:rPr lang="en-US" sz="1000" b="0" i="1" u="none" strike="noStrike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The White House</a:t>
            </a:r>
            <a:r>
              <a:rPr lang="en-US" sz="1000" b="0" i="0" u="none" strike="noStrike" dirty="0">
                <a:solidFill>
                  <a:srgbClr val="444444"/>
                </a:solidFill>
                <a:effectLst/>
                <a:latin typeface="Times New Roman" panose="02020603050405020304" pitchFamily="18" charset="0"/>
              </a:rPr>
              <a:t>, 19 April 2022, </a:t>
            </a:r>
            <a:r>
              <a:rPr lang="en-US" sz="1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7"/>
              </a:rPr>
              <a:t>www.whitehouse.gov/briefing-room/press-briefings/2022/07/08/press-briefing-by-press-secretary-karine-jean-pierre-4/</a:t>
            </a:r>
            <a:r>
              <a:rPr lang="en-US" sz="1000" b="0" i="0" u="none" strike="noStrike" dirty="0">
                <a:solidFill>
                  <a:srgbClr val="444444"/>
                </a:solidFill>
                <a:effectLst/>
                <a:latin typeface="Times New Roman" panose="02020603050405020304" pitchFamily="18" charset="0"/>
              </a:rPr>
              <a:t>. Press release.</a:t>
            </a:r>
            <a:endParaRPr lang="en-US" sz="1000" b="0" dirty="0">
              <a:effectLst/>
            </a:endParaRPr>
          </a:p>
          <a:p>
            <a:pPr indent="-457200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Coleman, CL. (2020). How Sioux-Settler Relations Underscore the Dakota Access Pipeline. In: Environmental Clashes on Native American Land. </a:t>
            </a:r>
            <a:r>
              <a:rPr lang="en-US" sz="10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Palgrave Studies in Media and Environmental Communication. Palgrave Pivot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Cham. </a:t>
            </a:r>
            <a:r>
              <a:rPr lang="en-US" sz="1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8"/>
              </a:rPr>
              <a:t>https://doi.org/10.1007/978-3-030-34106-0_7</a:t>
            </a:r>
            <a:endParaRPr lang="en-US" sz="1000" b="0" dirty="0">
              <a:effectLst/>
            </a:endParaRPr>
          </a:p>
          <a:p>
            <a:pPr indent="-457200" rtl="0">
              <a:spcBef>
                <a:spcPts val="0"/>
              </a:spcBef>
              <a:spcAft>
                <a:spcPts val="0"/>
              </a:spcAft>
            </a:pP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Congressional Research Service. (2021, February 1). </a:t>
            </a:r>
            <a:r>
              <a:rPr lang="en-US" sz="10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Court Rules Dakota Access Pipeline Needs Further Environmental Review.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Retrieved September 8, 2022, from </a:t>
            </a:r>
            <a:r>
              <a:rPr lang="en-US" sz="1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9"/>
              </a:rPr>
              <a:t>https://crsreports.congress.gov/product/pdf/LSB/LSB10457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1000" b="0" dirty="0">
              <a:effectLst/>
            </a:endParaRPr>
          </a:p>
          <a:p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Congressional Research Service. (2021, February 18). </a:t>
            </a:r>
            <a:r>
              <a:rPr lang="en-US" sz="10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Tribal Consultation: Administration Guidance and Policy Consideration.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 Retrieved September 22, 2022, from </a:t>
            </a:r>
            <a:r>
              <a:rPr lang="en-US" sz="10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10"/>
              </a:rPr>
              <a:t>https://crsreports.congress.gov/product/pdf/IN/IN11606</a:t>
            </a:r>
            <a:r>
              <a:rPr lang="en-US" sz="1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endParaRPr lang="en-US" sz="1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9572F-0FF4-D57B-94A8-221DAE6E0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960FD-CB17-9196-1BC8-4FC91A3D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C9E6D2-C24D-BC63-1660-37E5752B821B}"/>
              </a:ext>
            </a:extLst>
          </p:cNvPr>
          <p:cNvSpPr txBox="1">
            <a:spLocks/>
          </p:cNvSpPr>
          <p:nvPr/>
        </p:nvSpPr>
        <p:spPr>
          <a:xfrm>
            <a:off x="5839968" y="2002536"/>
            <a:ext cx="5590032" cy="4754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Dakota Access, LLC, &amp; United States Army Corps of Engineers Omaha District. (2016). </a:t>
            </a: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Environmental assessment: Dakota Access Pipeline Project, crossings of flowage easements and federal lands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Retrieved September 8, 2022, from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11"/>
              </a:rPr>
              <a:t>https://usace.contentdm.oclc.org/digital/collection/p16021coll7/id/2427/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Dakota Access Pipeline Facts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Home. (n.d.). Retrieved September 9, 2022, from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12"/>
              </a:rPr>
              <a:t>https://daplpipelinefacts.com/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1200"/>
              </a:spcBef>
            </a:pP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Dongoske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K. E., Pasqual, T., &amp; King, T. F. (2015). Environmental reviews and case studies: The National Environmental Policy Act (NEPA) and the silencing of Native American worldviews. </a:t>
            </a: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Environmental Practice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17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(1), 36–45.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13"/>
              </a:rPr>
              <a:t>https://doi.org/10.1017/s1466046614000490</a:t>
            </a:r>
            <a:endParaRPr lang="en-US" sz="200" dirty="0"/>
          </a:p>
          <a:p>
            <a:pPr marL="0" indent="-457200" rtl="0">
              <a:spcBef>
                <a:spcPts val="1200"/>
              </a:spcBef>
            </a:pP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Environmental Protection Agency. (2021, December 15). </a:t>
            </a: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National Environmental Policy Act Review Process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EPA. Retrieved September 8, 2022, from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14"/>
              </a:rPr>
              <a:t>https://www.epa.gov/nepa/national-environmental-policy-act-review-process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dirty="0">
                <a:solidFill>
                  <a:srgbClr val="202124"/>
                </a:solidFill>
                <a:effectLst/>
                <a:latin typeface="Times New Roman" panose="02020603050405020304" pitchFamily="18" charset="0"/>
              </a:rPr>
              <a:t>Exec. Order No. 13175, 65 Fed. Reg. 67249 (November 9, 2000)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15"/>
              </a:rPr>
              <a:t>https://www.govinfo.gov/content/pkg/FR-2000-11-09/pdf/00-29003.pdf</a:t>
            </a:r>
            <a:r>
              <a:rPr lang="en-US" sz="800" b="0" i="0" u="none" strike="noStrike" dirty="0">
                <a:solidFill>
                  <a:srgbClr val="202124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FAQ: Standing Rock Litigation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Earthjustice. (n.d.). Retrieved May 10, 2022, from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16"/>
              </a:rPr>
              <a:t>https://earthjustice.org/features/faq-standing-rock-litigation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Harper, B. &amp; Harris, S. (2011). Tribal Environmental Justice: Vulnerability, trusteeship, and equity under NEPA.</a:t>
            </a: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Environmental Justice, 4(4)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193–197.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17"/>
              </a:rPr>
              <a:t>https://doi.org/10.1089/env.2010.0037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Lewis, J., Hoover, J. &amp;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MacKenzie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D. Mining and Environmental Health Disparities in Native American Communities. </a:t>
            </a:r>
            <a:r>
              <a:rPr lang="en-US" sz="800" b="0" i="1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Curr</a:t>
            </a: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800" b="0" i="1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Envir</a:t>
            </a: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Health </a:t>
            </a:r>
            <a:r>
              <a:rPr lang="en-US" sz="800" b="0" i="1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Rpt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130–141 (2017)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18"/>
              </a:rPr>
              <a:t>https://doi.org/10.1007/s40572-017-0140-5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Rainie, S. C., Schultz, J. L., Briggs, E., Riggs, P., &amp; </a:t>
            </a:r>
            <a:r>
              <a:rPr lang="en-US" sz="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Palmanteer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-Holder, N. L. (2017). Data as a strategic resource: Self-determination, governance, and the Data Challenge for Indigenous nations in the United States. </a:t>
            </a: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International Indigenous Policy Journal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8(2).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19"/>
              </a:rPr>
              <a:t>https://doi.org/10.18584/iipj.2017.8.2.1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Standing Rock Sioux Tribe &amp; Cheyenne River Sioux Tribe v. U.S. Army Corps of Engineers &amp; Dakota Access, LLC, (U.S. District Court for the District of Columbia, 2016).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0"/>
              </a:rPr>
              <a:t>https://earthjustice.org/sites/default/files/press/2016/3154-66-3-Dec-of-William-Scherman-ISO-MSJ.pdf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Standing Rock Sioux Tribe, et. al. v. U.S. Army Corps of Engineers, et. al., (U.S. District Court for the District of Columbia, 2017).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1"/>
              </a:rPr>
              <a:t>https://legacy-assets.eenews.net/open_files/assets/2017/06/15/document_ew_03.pdf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dirty="0">
                <a:solidFill>
                  <a:srgbClr val="2E414F"/>
                </a:solidFill>
                <a:effectLst/>
                <a:latin typeface="Times New Roman" panose="02020603050405020304" pitchFamily="18" charset="0"/>
              </a:rPr>
              <a:t>Tuck, E., &amp; Yang, K. W. (2017, January 19). </a:t>
            </a:r>
            <a:r>
              <a:rPr lang="en-US" sz="800" b="0" i="1" u="none" strike="noStrike" dirty="0">
                <a:solidFill>
                  <a:srgbClr val="2E414F"/>
                </a:solidFill>
                <a:effectLst/>
                <a:latin typeface="Times New Roman" panose="02020603050405020304" pitchFamily="18" charset="0"/>
              </a:rPr>
              <a:t>Decolonization is Not a Metaphor</a:t>
            </a:r>
            <a:r>
              <a:rPr lang="en-US" sz="800" b="0" i="0" u="none" strike="noStrike" dirty="0">
                <a:solidFill>
                  <a:srgbClr val="2E414F"/>
                </a:solidFill>
                <a:effectLst/>
                <a:latin typeface="Times New Roman" panose="02020603050405020304" pitchFamily="18" charset="0"/>
              </a:rPr>
              <a:t>. Decolonization: Indigeneity, Education &amp; Society. Retrieved October 11, 2022, from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2"/>
              </a:rPr>
              <a:t>https://jps.library.utoronto.ca/index.php/des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Council on Environmental Quality. (1997). </a:t>
            </a: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Environmental Justice Guidance Under the National Environmental Policy Act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3"/>
              </a:rPr>
              <a:t>https://www.epa.gov/sites/default/files/2015-02/documents/ej_guidance_nepa_ceq1297.pdf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200" b="0" dirty="0">
              <a:effectLst/>
            </a:endParaRPr>
          </a:p>
          <a:p>
            <a:pPr marL="0" indent="-457200" rtl="0">
              <a:spcBef>
                <a:spcPts val="0"/>
              </a:spcBef>
              <a:spcAft>
                <a:spcPts val="0"/>
              </a:spcAft>
            </a:pP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U.S. Department of the Interior, U.S. Department of the Army, U.S. Department of Justice. (2017). </a:t>
            </a:r>
            <a:r>
              <a:rPr lang="en-US" sz="800" b="0" i="1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Improving Tribal Consultation and Tribal Involvement in Federal Infrastructure Decisions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4"/>
              </a:rPr>
              <a:t>https://www.bia.gov/sites/default/files/dup/assets/as-ia/pdf/idc2-060030.pdf</a:t>
            </a:r>
            <a:r>
              <a:rPr lang="en-US" sz="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US" sz="200" b="0" dirty="0">
              <a:effectLst/>
            </a:endParaRPr>
          </a:p>
          <a:p>
            <a:pPr marL="0" indent="-457200"/>
            <a:r>
              <a:rPr lang="en-US" sz="800" b="0" i="0" u="none" strike="noStrike" dirty="0">
                <a:solidFill>
                  <a:srgbClr val="2E414F"/>
                </a:solidFill>
                <a:effectLst/>
                <a:latin typeface="Times New Roman" panose="02020603050405020304" pitchFamily="18" charset="0"/>
              </a:rPr>
              <a:t>Young, Stephen. (2017). The Sioux's Suits: Global Law and the Dakota Access Pipeline," </a:t>
            </a:r>
            <a:r>
              <a:rPr lang="en-US" sz="800" b="0" i="1" u="none" strike="noStrike" dirty="0">
                <a:solidFill>
                  <a:srgbClr val="2E414F"/>
                </a:solidFill>
                <a:effectLst/>
                <a:latin typeface="Times New Roman" panose="02020603050405020304" pitchFamily="18" charset="0"/>
              </a:rPr>
              <a:t>American Indian Law Journal</a:t>
            </a:r>
            <a:r>
              <a:rPr lang="en-US" sz="800" b="0" i="0" u="none" strike="noStrike" dirty="0">
                <a:solidFill>
                  <a:srgbClr val="2E414F"/>
                </a:solidFill>
                <a:effectLst/>
                <a:latin typeface="Times New Roman" panose="02020603050405020304" pitchFamily="18" charset="0"/>
              </a:rPr>
              <a:t>: Vol. 6 : </a:t>
            </a:r>
            <a:r>
              <a:rPr lang="en-US" sz="800" b="0" i="0" u="none" strike="noStrike" dirty="0" err="1">
                <a:solidFill>
                  <a:srgbClr val="2E414F"/>
                </a:solidFill>
                <a:effectLst/>
                <a:latin typeface="Times New Roman" panose="02020603050405020304" pitchFamily="18" charset="0"/>
              </a:rPr>
              <a:t>Iss</a:t>
            </a:r>
            <a:r>
              <a:rPr lang="en-US" sz="800" b="0" i="0" u="none" strike="noStrike" dirty="0">
                <a:solidFill>
                  <a:srgbClr val="2E414F"/>
                </a:solidFill>
                <a:effectLst/>
                <a:latin typeface="Times New Roman" panose="02020603050405020304" pitchFamily="18" charset="0"/>
              </a:rPr>
              <a:t>. 1 , Article 4. </a:t>
            </a:r>
            <a:r>
              <a:rPr lang="en-US" sz="800" b="0" i="0" u="sng" strike="noStrike" dirty="0">
                <a:solidFill>
                  <a:srgbClr val="1155CC"/>
                </a:solidFill>
                <a:effectLst/>
                <a:latin typeface="Times New Roman" panose="02020603050405020304" pitchFamily="18" charset="0"/>
                <a:hlinkClick r:id="rId25"/>
              </a:rPr>
              <a:t>https://digitalcommons.law.seattleu.edu/ailj/vol6/iss1/4</a:t>
            </a:r>
            <a:endParaRPr lang="en-US" sz="200" dirty="0"/>
          </a:p>
        </p:txBody>
      </p:sp>
    </p:spTree>
    <p:extLst>
      <p:ext uri="{BB962C8B-B14F-4D97-AF65-F5344CB8AC3E}">
        <p14:creationId xmlns:p14="http://schemas.microsoft.com/office/powerpoint/2010/main" val="4179479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-Color-Block_Win32_jx_v9.potx" id="{B1D493D9-AF74-4AD6-8F0C-5B1308D7041B}" vid="{1AA99070-5A1F-42D2-9F5B-E7354C964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{71EB40D2-1B16-46EE-8B91-FDE5A4059E95}tf78438558_win32</Template>
  <TotalTime>290</TotalTime>
  <Words>2386</Words>
  <Application>Microsoft Office PowerPoint</Application>
  <PresentationFormat>Widescreen</PresentationFormat>
  <Paragraphs>191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Sabon Next LT</vt:lpstr>
      <vt:lpstr>Times New Roman</vt:lpstr>
      <vt:lpstr>Wingdings</vt:lpstr>
      <vt:lpstr>Office Theme</vt:lpstr>
      <vt:lpstr>The Standing Rock Sioux Tribe’s Litigation AGAINST the Dakota Access Pipeline</vt:lpstr>
      <vt:lpstr>Dakota access pipeline (dapl)</vt:lpstr>
      <vt:lpstr>Series of events</vt:lpstr>
      <vt:lpstr>Series of events</vt:lpstr>
      <vt:lpstr>Influential factors</vt:lpstr>
      <vt:lpstr>Colonial history</vt:lpstr>
      <vt:lpstr>Dispossession &amp; extraction</vt:lpstr>
      <vt:lpstr>Principle actors</vt:lpstr>
      <vt:lpstr>Treaty imaginary</vt:lpstr>
      <vt:lpstr>Levels of legality</vt:lpstr>
      <vt:lpstr>Permitting process &amp; EJ</vt:lpstr>
      <vt:lpstr>Tribal consultation and data limitations</vt:lpstr>
      <vt:lpstr>Executive power</vt:lpstr>
      <vt:lpstr>Court opinion</vt:lpstr>
      <vt:lpstr>conclusions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Standing Rock Sioux Tribe’s Litigation AGAINST the Dakota Access Pipeline</dc:title>
  <dc:subject/>
  <dc:creator>Jessica Horowitz</dc:creator>
  <cp:lastModifiedBy>Jessica Horowitz</cp:lastModifiedBy>
  <cp:revision>10</cp:revision>
  <dcterms:created xsi:type="dcterms:W3CDTF">2022-10-13T02:35:12Z</dcterms:created>
  <dcterms:modified xsi:type="dcterms:W3CDTF">2022-10-13T17:17:33Z</dcterms:modified>
</cp:coreProperties>
</file>